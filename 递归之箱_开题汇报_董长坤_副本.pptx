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www.bilibili.com/video/BV1Ft2jBwEz4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13224" y="1737360"/>
            <a:ext cx="3566160" cy="3566160"/>
          </a:xfrm>
          <a:prstGeom prst="rect">
            <a:avLst/>
          </a:prstGeom>
          <a:noFill/>
          <a:ln w="317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30444" y="2354580"/>
            <a:ext cx="2331720" cy="2331720"/>
          </a:xfrm>
          <a:prstGeom prst="rect">
            <a:avLst/>
          </a:prstGeom>
          <a:noFill/>
          <a:ln w="3175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01944" y="2926080"/>
            <a:ext cx="1188720" cy="1188720"/>
          </a:xfrm>
          <a:prstGeom prst="rect">
            <a:avLst/>
          </a:prstGeom>
          <a:noFill/>
          <a:ln w="31750">
            <a:solidFill>
              <a:srgbClr val="6CC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22952" y="1810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A623"/>
                </a:solidFill>
                <a:latin typeface="微软雅黑"/>
                <a:ea typeface="微软雅黑"/>
              </a:rPr>
              <a:t>外层世界</a:t>
            </a:r>
            <a:endParaRPr sz="1100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40172" y="24277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69CD6"/>
                </a:solidFill>
                <a:latin typeface="微软雅黑"/>
                <a:ea typeface="微软雅黑"/>
              </a:rPr>
              <a:t>箱子</a:t>
            </a:r>
            <a:endParaRPr sz="1100" b="1">
              <a:solidFill>
                <a:srgbClr val="569CD6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75096" y="297180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CC77A"/>
                </a:solidFill>
                <a:latin typeface="微软雅黑"/>
                <a:ea typeface="微软雅黑"/>
              </a:rPr>
              <a:t>内层世界</a:t>
            </a:r>
            <a:endParaRPr sz="1000" b="1">
              <a:solidFill>
                <a:srgbClr val="6CC77A"/>
              </a:solidFill>
              <a:latin typeface="微软雅黑"/>
              <a:ea typeface="微软雅黑"/>
            </a:endParaRPr>
          </a:p>
        </p:txBody>
      </p:sp>
      <p:sp>
        <p:nvSpPr>
          <p:cNvPr id="8" name="Oval 7"/>
          <p:cNvSpPr/>
          <p:nvPr/>
        </p:nvSpPr>
        <p:spPr>
          <a:xfrm>
            <a:off x="5950000" y="3502152"/>
            <a:ext cx="292608" cy="29260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685800"/>
            <a:ext cx="94457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600" b="1">
                <a:solidFill>
                  <a:srgbClr val="EBEEF5"/>
                </a:solidFill>
                <a:latin typeface="微软雅黑"/>
                <a:ea typeface="微软雅黑"/>
              </a:rPr>
              <a:t>递归之箱</a:t>
            </a:r>
            <a:endParaRPr sz="4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1481328"/>
            <a:ext cx="9445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8A2B8"/>
                </a:solidFill>
                <a:latin typeface="微软雅黑"/>
                <a:ea typeface="微软雅黑"/>
              </a:rPr>
              <a:t>Patrick's Parabox 关卡复刻 · Python 游戏开发实践</a:t>
            </a:r>
            <a:endParaRPr sz="16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5532120"/>
            <a:ext cx="94457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EBEEF5"/>
                </a:solidFill>
                <a:latin typeface="微软雅黑"/>
                <a:ea typeface="微软雅黑"/>
              </a:rPr>
              <a:t>软件工程设计课程 · 开题汇报</a:t>
            </a:r>
            <a:endParaRPr sz="14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5989320"/>
            <a:ext cx="94457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8A2B8"/>
                </a:solidFill>
                <a:latin typeface="微软雅黑"/>
                <a:ea typeface="微软雅黑"/>
              </a:rPr>
              <a:t>汇报人：董长坤　　2026 年 9 月 10 日</a:t>
            </a:r>
            <a:endParaRPr sz="13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项目描述与目标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《递归之箱》开题汇报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2 / 5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577840" cy="2590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关于 Patrick's Parabox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独立解谜游戏：经典推箱子 + 递归嵌套玩法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箱子内部是另一个可进入的完整世界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玩家动作逐层同步，形成“套娃”式谜题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本项目做什么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用 Python 复刻 1 个代表性关卡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实现核心机制：推箱子 / 嵌套世界进出 / 胜利判定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提供选关界面，作为后续扩展更多关卡的入口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46520" y="1234440"/>
            <a:ext cx="5257800" cy="333756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8988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BEEF5"/>
                </a:solidFill>
                <a:latin typeface="微软雅黑"/>
                <a:ea typeface="微软雅黑"/>
              </a:rPr>
              <a:t>项目目标</a:t>
            </a:r>
            <a:endParaRPr sz="15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0" y="1874519"/>
            <a:ext cx="48463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5A623"/>
                </a:solidFill>
                <a:latin typeface="微软雅黑"/>
                <a:ea typeface="微软雅黑"/>
              </a:rPr>
              <a:t>核心目标　</a:t>
            </a:r>
            <a:r>
              <a:rPr lang="zh-CN" sz="1300" b="1">
                <a:solidFill>
                  <a:srgbClr val="F5A623"/>
                </a:solidFill>
                <a:latin typeface="微软雅黑"/>
                <a:ea typeface="微软雅黑"/>
              </a:rPr>
              <a:t>一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个可完整游玩的复刻关卡 + 选关界面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0" y="239572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69CD6"/>
                </a:solidFill>
                <a:latin typeface="微软雅黑"/>
                <a:ea typeface="微软雅黑"/>
              </a:rPr>
              <a:t>延伸目标　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撤销 / 重置、通关计时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7548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8A2B8"/>
                </a:solidFill>
                <a:latin typeface="微软雅黑"/>
                <a:ea typeface="微软雅黑"/>
              </a:rPr>
              <a:t>规模界定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75120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单人开发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18704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嵌套 ≤2 层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62288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不做编辑器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405872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lang="zh-CN" sz="1100" b="0">
                <a:solidFill>
                  <a:srgbClr val="EBEEF5"/>
                </a:solidFill>
                <a:latin typeface="微软雅黑"/>
                <a:ea typeface="微软雅黑"/>
              </a:rPr>
              <a:t>两周</a:t>
            </a: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交付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项目设计与功能想定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《递归之箱》开题汇报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3 / 5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4846320" cy="320040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3502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EEF5"/>
                </a:solidFill>
                <a:latin typeface="微软雅黑"/>
                <a:ea typeface="微软雅黑"/>
              </a:rPr>
              <a:t>核心机制示意 · 箱子即世界</a:t>
            </a:r>
            <a:endParaRPr sz="14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28800" y="1783080"/>
            <a:ext cx="2194560" cy="2194560"/>
          </a:xfrm>
          <a:prstGeom prst="rect">
            <a:avLst/>
          </a:prstGeom>
          <a:noFill/>
          <a:ln w="285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17420" y="2171700"/>
            <a:ext cx="1417320" cy="1417320"/>
          </a:xfrm>
          <a:prstGeom prst="rect">
            <a:avLst/>
          </a:prstGeom>
          <a:noFill/>
          <a:ln w="28575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2514600"/>
            <a:ext cx="731520" cy="731520"/>
          </a:xfrm>
          <a:prstGeom prst="rect">
            <a:avLst/>
          </a:prstGeom>
          <a:noFill/>
          <a:ln w="28575">
            <a:solidFill>
              <a:srgbClr val="6CC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837943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5A623"/>
                </a:solidFill>
                <a:latin typeface="微软雅黑"/>
                <a:ea typeface="微软雅黑"/>
              </a:rPr>
              <a:t>外层世界</a:t>
            </a:r>
            <a:endParaRPr sz="1000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08860" y="2226564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569CD6"/>
                </a:solidFill>
                <a:latin typeface="微软雅黑"/>
                <a:ea typeface="微软雅黑"/>
              </a:rPr>
              <a:t>箱子</a:t>
            </a:r>
            <a:endParaRPr sz="1000" b="1">
              <a:solidFill>
                <a:srgbClr val="569CD6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15184" y="2551176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6CC77A"/>
                </a:solidFill>
                <a:latin typeface="微软雅黑"/>
                <a:ea typeface="微软雅黑"/>
              </a:rPr>
              <a:t>内层</a:t>
            </a:r>
            <a:endParaRPr sz="900" b="1">
              <a:solidFill>
                <a:srgbClr val="6CC77A"/>
              </a:solidFill>
              <a:latin typeface="微软雅黑"/>
              <a:ea typeface="微软雅黑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2798064" y="2880360"/>
            <a:ext cx="256032" cy="25603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41648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8A2B8"/>
                </a:solidFill>
                <a:latin typeface="微软雅黑"/>
                <a:ea typeface="微软雅黑"/>
              </a:rPr>
              <a:t>进入箱子 ⇄ 内层世界，动作逐层同步</a:t>
            </a:r>
            <a:endParaRPr sz="11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23560" y="1188720"/>
            <a:ext cx="6080760" cy="320040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335024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EEF5"/>
                </a:solidFill>
                <a:latin typeface="微软雅黑"/>
                <a:ea typeface="微软雅黑"/>
              </a:rPr>
              <a:t>功能模块划分</a:t>
            </a:r>
            <a:endParaRPr sz="14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503920" y="1755648"/>
            <a:ext cx="3017520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00" b="0">
                <a:solidFill>
                  <a:srgbClr val="EBEEF5"/>
                </a:solidFill>
                <a:latin typeface="微软雅黑"/>
                <a:ea typeface="微软雅黑"/>
              </a:rPr>
              <a:t>输入控制 · 键盘事件</a:t>
            </a:r>
            <a:endParaRPr sz="12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9829800" y="2231136"/>
            <a:ext cx="274320" cy="201168"/>
          </a:xfrm>
          <a:prstGeom prst="downArrow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52160" y="2487168"/>
            <a:ext cx="2286000" cy="8686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6CC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00" b="1">
                <a:solidFill>
                  <a:srgbClr val="EBEEF5"/>
                </a:solidFill>
                <a:latin typeface="微软雅黑"/>
                <a:ea typeface="微软雅黑"/>
              </a:rPr>
              <a:t>关卡数据</a:t>
            </a:r>
            <a:endParaRPr sz="1200" b="1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ctr"/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地图 · 嵌套结构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  <a:p>
            <a:pPr algn="ctr"/>
            <a:r>
              <a:rPr sz="1200" b="1">
                <a:solidFill>
                  <a:srgbClr val="EBEEF5"/>
                </a:solidFill>
                <a:latin typeface="微软雅黑"/>
                <a:ea typeface="微软雅黑"/>
              </a:rPr>
              <a:t>胜利判定</a:t>
            </a:r>
            <a:endParaRPr sz="12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8183879" y="2816352"/>
            <a:ext cx="292608" cy="228600"/>
          </a:xfrm>
          <a:prstGeom prst="rightArrow">
            <a:avLst/>
          </a:prstGeom>
          <a:solidFill>
            <a:srgbClr val="6CC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0" y="2487168"/>
            <a:ext cx="3017520" cy="8686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50" b="1">
                <a:solidFill>
                  <a:srgbClr val="EBEEF5"/>
                </a:solidFill>
                <a:latin typeface="微软雅黑"/>
                <a:ea typeface="微软雅黑"/>
              </a:rPr>
              <a:t>游戏逻辑</a:t>
            </a:r>
            <a:endParaRPr sz="1250" b="1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ctr"/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玩家 / 箱子 / 嵌套世界状态更新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23" name="Down Arrow 22"/>
          <p:cNvSpPr/>
          <p:nvPr/>
        </p:nvSpPr>
        <p:spPr>
          <a:xfrm>
            <a:off x="9829800" y="3374136"/>
            <a:ext cx="274320" cy="201168"/>
          </a:xfrm>
          <a:prstGeom prst="down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0" y="3593592"/>
            <a:ext cx="3017520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00" b="0">
                <a:solidFill>
                  <a:srgbClr val="EBEEF5"/>
                </a:solidFill>
                <a:latin typeface="微软雅黑"/>
                <a:ea typeface="微软雅黑"/>
              </a:rPr>
              <a:t>渲染层 · Pygame 绘制</a:t>
            </a:r>
            <a:endParaRPr sz="12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45720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EEF5"/>
                </a:solidFill>
                <a:latin typeface="微软雅黑"/>
                <a:ea typeface="微软雅黑"/>
              </a:rPr>
              <a:t>功能清单</a:t>
            </a:r>
            <a:endParaRPr sz="14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4974336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5A623"/>
                </a:solidFill>
                <a:latin typeface="微软雅黑"/>
                <a:ea typeface="微软雅黑"/>
              </a:rPr>
              <a:t>必做</a:t>
            </a:r>
            <a:endParaRPr sz="1200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234440" y="4919472"/>
            <a:ext cx="182880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推箱子移动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200400" y="4919472"/>
            <a:ext cx="182880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嵌套世界进出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166360" y="4919472"/>
            <a:ext cx="182880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胜利判定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132319" y="4919472"/>
            <a:ext cx="182880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选关界面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920" y="5522976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69CD6"/>
                </a:solidFill>
                <a:latin typeface="微软雅黑"/>
                <a:ea typeface="微软雅黑"/>
              </a:rPr>
              <a:t>选做</a:t>
            </a:r>
            <a:endParaRPr sz="1200" b="1">
              <a:solidFill>
                <a:srgbClr val="569CD6"/>
              </a:solidFill>
              <a:latin typeface="微软雅黑"/>
              <a:ea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234440" y="5468112"/>
            <a:ext cx="146304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撤销 / 重置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834640" y="5468112"/>
            <a:ext cx="146304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通关计时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434840" y="5468112"/>
            <a:ext cx="146304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简单音效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01000" y="5687568"/>
            <a:ext cx="3931920" cy="475488"/>
          </a:xfrm>
          <a:prstGeom prst="roundRect">
            <a:avLst>
              <a:gd name="adj" fmla="val 50000"/>
            </a:avLst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u="sng">
                <a:solidFill>
                  <a:srgbClr val="7FB2FF"/>
                </a:solidFill>
                <a:latin typeface="微软雅黑"/>
                <a:hlinkClick r:id="rId1"/>
              </a:rPr>
              <a:t>观看宣传视频</a:t>
            </a:r>
            <a:endParaRPr sz="1200" b="1" u="sng">
              <a:solidFill>
                <a:srgbClr val="7FB2FF"/>
              </a:solidFill>
              <a:latin typeface="微软雅黑"/>
              <a:hlinkClick r:id="rId1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技术栈选定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《递归之箱》开题汇报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4 / 5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286000" cy="411480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技术栈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8920" y="1234440"/>
            <a:ext cx="6263640" cy="411480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定位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52560" y="1234440"/>
            <a:ext cx="2651760" cy="411480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结论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2286000" cy="15544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37160" bIns="18288" rtlCol="0" anchor="ctr"/>
          <a:lstStyle/>
          <a:p>
            <a:pPr algn="l"/>
            <a:r>
              <a:rPr sz="1600" b="1">
                <a:solidFill>
                  <a:srgbClr val="EBEEF5"/>
                </a:solidFill>
                <a:latin typeface="微软雅黑"/>
              </a:rPr>
              <a:t>Pygame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/>
            <a:r>
              <a:rPr sz="1100" b="0">
                <a:solidFill>
                  <a:srgbClr val="98A2B8"/>
                </a:solidFill>
                <a:latin typeface="微软雅黑"/>
              </a:rPr>
              <a:t>Python 3.12</a:t>
            </a:r>
            <a:endParaRPr sz="1100" b="0">
              <a:solidFill>
                <a:srgbClr val="98A2B8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88920" y="1645920"/>
            <a:ext cx="6263640" cy="15544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EBEEF5"/>
                </a:solidFill>
                <a:latin typeface="微软雅黑"/>
              </a:rPr>
              <a:t>▪ SDL 封装：绘制 / 事件 / 精灵 / 音效一站齐备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BEEF5"/>
                </a:solidFill>
                <a:latin typeface="微软雅黑"/>
              </a:rPr>
              <a:t>▪ 中文资料丰富、社区成熟，遇到问题好解决</a:t>
            </a:r>
            <a:endParaRPr sz="1150" b="0">
              <a:solidFill>
                <a:srgbClr val="EBEEF5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BEEF5"/>
                </a:solidFill>
                <a:latin typeface="微软雅黑"/>
              </a:rPr>
              <a:t>▪ 学习曲线平缓，两周开发周期内可完成交付</a:t>
            </a:r>
            <a:endParaRPr sz="1150" b="0">
              <a:solidFill>
                <a:srgbClr val="EBEEF5"/>
              </a:solidFill>
              <a:latin typeface="微软雅黑"/>
            </a:endParaRP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EBEEF5"/>
                </a:solidFill>
                <a:latin typeface="微软雅黑"/>
              </a:rPr>
              <a:t>▪ 2D 格子系统与推箱子玩法天然契合</a:t>
            </a:r>
            <a:endParaRPr sz="1150" b="0">
              <a:solidFill>
                <a:srgbClr val="EBEEF5"/>
              </a:solidFill>
              <a:latin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52560" y="1645920"/>
            <a:ext cx="2651760" cy="15544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400" b="1">
                <a:solidFill>
                  <a:srgbClr val="6CC77A"/>
                </a:solidFill>
                <a:latin typeface="微软雅黑"/>
              </a:rPr>
              <a:t>✅ 选定</a:t>
            </a:r>
            <a:endParaRPr sz="1250" b="1">
              <a:solidFill>
                <a:srgbClr val="6CC77A"/>
              </a:solidFill>
              <a:latin typeface="微软雅黑"/>
              <a:ea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4434840"/>
            <a:ext cx="11201400" cy="685800"/>
          </a:xfrm>
          <a:prstGeom prst="roundRect">
            <a:avLst/>
          </a:prstGeom>
          <a:solidFill>
            <a:srgbClr val="26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8288" rIns="256032" bIns="18288" rtlCol="0" anchor="ctr"/>
          <a:lstStyle/>
          <a:p>
            <a:pPr algn="l"/>
            <a:r>
              <a:rPr sz="1400" b="1">
                <a:solidFill>
                  <a:srgbClr val="F5A623"/>
                </a:solidFill>
                <a:latin typeface="微软雅黑"/>
                <a:ea typeface="微软雅黑"/>
              </a:rPr>
              <a:t>结论：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Python</a:t>
            </a:r>
            <a:r>
              <a:rPr lang="en-US" sz="1300" b="0">
                <a:solidFill>
                  <a:srgbClr val="EBEEF5"/>
                </a:solidFill>
                <a:latin typeface="微软雅黑"/>
                <a:ea typeface="微软雅黑"/>
              </a:rPr>
              <a:t> 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+ Pygame —— 成熟稳定 · 学习曲线平缓 · 2D 格子游戏最佳匹配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54132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配套工具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600200" y="5349240"/>
            <a:ext cx="2286000" cy="457200"/>
          </a:xfrm>
          <a:prstGeom prst="roundRect">
            <a:avLst/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Git 版本管理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069080" y="5349240"/>
            <a:ext cx="2286000" cy="457200"/>
          </a:xfrm>
          <a:prstGeom prst="roundRect">
            <a:avLst/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unittest 单元测试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37960" y="5349240"/>
            <a:ext cx="2286000" cy="457200"/>
          </a:xfrm>
          <a:prstGeom prst="roundRect">
            <a:avLst/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PyCharm 开发环境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06840" y="5349240"/>
            <a:ext cx="2286000" cy="457200"/>
          </a:xfrm>
          <a:prstGeom prst="roundRect">
            <a:avLst/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AI 辅助开发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计划安排 · 甘特图（9.10 – 9.17，单人）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《递归之箱》开题汇报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5 / 5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3502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8A2B8"/>
                </a:solidFill>
                <a:latin typeface="微软雅黑"/>
                <a:ea typeface="微软雅黑"/>
              </a:rPr>
              <a:t>任务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3756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9/10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8912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9/11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40679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9/12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9224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9/13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4380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9/14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9536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9/15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646919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9/16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69848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9/17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32988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4548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36107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87668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39227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0788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42347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93907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745467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178308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开题汇报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392424" y="1737360"/>
            <a:ext cx="941831" cy="329184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295144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Pygame 骨架：窗口 / 主循环 / 渲染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392424" y="2249424"/>
            <a:ext cx="1993391" cy="329184"/>
          </a:xfrm>
          <a:prstGeom prst="roundRect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807208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推箱子逻辑：移动 / 碰撞 / 判定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443983" y="2761488"/>
            <a:ext cx="941831" cy="329184"/>
          </a:xfrm>
          <a:prstGeom prst="roundRect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31927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嵌套世界：进入 / 退出 / 状态同步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495543" y="3273552"/>
            <a:ext cx="941831" cy="329184"/>
          </a:xfrm>
          <a:prstGeom prst="roundRect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6345936" y="3291840"/>
            <a:ext cx="274320" cy="274320"/>
          </a:xfrm>
          <a:prstGeom prst="diamond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831336"/>
            <a:ext cx="278892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关卡 + 选关界面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547103" y="3785616"/>
            <a:ext cx="941831" cy="329184"/>
          </a:xfrm>
          <a:prstGeom prst="roundRect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3434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测试修复 · 功能冻结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598664" y="4297680"/>
            <a:ext cx="941831" cy="329184"/>
          </a:xfrm>
          <a:prstGeom prst="roundRect">
            <a:avLst/>
          </a:prstGeom>
          <a:solidFill>
            <a:srgbClr val="6CC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iamond 36"/>
          <p:cNvSpPr/>
          <p:nvPr/>
        </p:nvSpPr>
        <p:spPr>
          <a:xfrm>
            <a:off x="8449056" y="4315968"/>
            <a:ext cx="274320" cy="274320"/>
          </a:xfrm>
          <a:prstGeom prst="diamond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855464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演示视频 + 版本归档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650224" y="4809744"/>
            <a:ext cx="941831" cy="329184"/>
          </a:xfrm>
          <a:prstGeom prst="roundRect">
            <a:avLst/>
          </a:prstGeom>
          <a:solidFill>
            <a:srgbClr val="6CC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367528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项目文档 + 打包提交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9701784" y="5321808"/>
            <a:ext cx="1993391" cy="329184"/>
          </a:xfrm>
          <a:prstGeom prst="roundRect">
            <a:avLst/>
          </a:prstGeom>
          <a:solidFill>
            <a:srgbClr val="6CC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6044184"/>
            <a:ext cx="201168" cy="201168"/>
          </a:xfrm>
          <a:prstGeom prst="rect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99846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开发实现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057400" y="6044184"/>
            <a:ext cx="201168" cy="201168"/>
          </a:xfrm>
          <a:prstGeom prst="rect">
            <a:avLst/>
          </a:prstGeom>
          <a:solidFill>
            <a:srgbClr val="6CC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04288" y="599846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交付整理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611880" y="6044184"/>
            <a:ext cx="201168" cy="2011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58768" y="599846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里程碑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852160" y="5998464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里程碑：9/12 核心机制打通 · 9/14 功能冻结 · 9/17 答辩缓冲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WPS 文字</Application>
  <PresentationFormat>On-screen Show (4:3)</PresentationFormat>
  <Paragraphs>178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微软雅黑</vt:lpstr>
      <vt:lpstr>宋体-简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董长坤</cp:lastModifiedBy>
  <cp:revision>5</cp:revision>
  <dcterms:created xsi:type="dcterms:W3CDTF">2026-09-09T09:30:56Z</dcterms:created>
  <dcterms:modified xsi:type="dcterms:W3CDTF">2026-09-09T09:30:56Z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ECDB9A1BAA95B1C1271BA16AB09BFE72_42</vt:lpwstr>
  </property>
  <property fmtid="{D5CDD505-2E9C-101B-9397-08002B2CF9AE}" pid="3" name="KSOProductBuildVer">
    <vt:lpwstr>2052-12.1.23540.23540</vt:lpwstr>
  </property>
</Properties>
</file>