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www.bilibili.com/video/BV1Ft2jBwEz4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13224" y="1737360"/>
            <a:ext cx="3566160" cy="3566160"/>
          </a:xfrm>
          <a:prstGeom prst="rect">
            <a:avLst/>
          </a:prstGeom>
          <a:noFill/>
          <a:ln w="317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30444" y="2354580"/>
            <a:ext cx="2331720" cy="2331720"/>
          </a:xfrm>
          <a:prstGeom prst="rect">
            <a:avLst/>
          </a:prstGeom>
          <a:noFill/>
          <a:ln w="3175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01944" y="2926080"/>
            <a:ext cx="1188720" cy="1188720"/>
          </a:xfrm>
          <a:prstGeom prst="rect">
            <a:avLst/>
          </a:prstGeom>
          <a:noFill/>
          <a:ln w="31750">
            <a:solidFill>
              <a:srgbClr val="6C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22952" y="1810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A623"/>
                </a:solidFill>
                <a:latin typeface="微软雅黑"/>
                <a:ea typeface="微软雅黑"/>
              </a:rPr>
              <a:t>外层世界</a:t>
            </a:r>
            <a:endParaRPr sz="1100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40172" y="24277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69CD6"/>
                </a:solidFill>
                <a:latin typeface="微软雅黑"/>
                <a:ea typeface="微软雅黑"/>
              </a:rPr>
              <a:t>箱子</a:t>
            </a:r>
            <a:endParaRPr sz="1100" b="1">
              <a:solidFill>
                <a:srgbClr val="569CD6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75096" y="297180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CC77A"/>
                </a:solidFill>
                <a:latin typeface="微软雅黑"/>
                <a:ea typeface="微软雅黑"/>
              </a:rPr>
              <a:t>内层世界</a:t>
            </a:r>
            <a:endParaRPr sz="100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  <p:sp>
        <p:nvSpPr>
          <p:cNvPr id="8" name="Oval 7"/>
          <p:cNvSpPr/>
          <p:nvPr/>
        </p:nvSpPr>
        <p:spPr>
          <a:xfrm>
            <a:off x="5950000" y="3502152"/>
            <a:ext cx="292608" cy="29260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685800"/>
            <a:ext cx="94457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600" b="1">
                <a:solidFill>
                  <a:srgbClr val="EBEEF5"/>
                </a:solidFill>
                <a:latin typeface="微软雅黑"/>
                <a:ea typeface="微软雅黑"/>
              </a:rPr>
              <a:t>递归之箱</a:t>
            </a:r>
            <a:endParaRPr sz="4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1481328"/>
            <a:ext cx="9445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8A2B8"/>
                </a:solidFill>
                <a:latin typeface="微软雅黑"/>
                <a:ea typeface="微软雅黑"/>
              </a:rPr>
              <a:t>Patrick's Parabox 关卡复刻 · Python 游戏开发实践</a:t>
            </a:r>
            <a:endParaRPr sz="16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5532120"/>
            <a:ext cx="94457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EBEEF5"/>
                </a:solidFill>
                <a:latin typeface="微软雅黑"/>
                <a:ea typeface="微软雅黑"/>
              </a:rPr>
              <a:t>软件工程设计课程 · 阶段汇报（9.10 – 9.17）</a:t>
            </a:r>
            <a:endParaRPr sz="14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5989320"/>
            <a:ext cx="94457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8A2B8"/>
                </a:solidFill>
                <a:latin typeface="微软雅黑"/>
                <a:ea typeface="微软雅黑"/>
              </a:rPr>
              <a:t>汇报人：董长坤　　2026 年 9 月 14 日</a:t>
            </a:r>
            <a:endParaRPr sz="13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pic>
        <p:nvPicPr>
          <p:cNvPr id="13" name="Picture 12" descr="patricks_parabox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475488"/>
            <a:ext cx="2788920" cy="11155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项目描述与目标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《递归之箱》阶段汇报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2 / 5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577840" cy="2590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关于 Patrick's Parabox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独立解谜游戏：经典推箱子 + 递归嵌套玩法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箱子内部是另一个可进入的完整世界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玩家动作逐层同步，形成“套娃”式谜题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本项目做什么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用 Python 复刻 1 个代表性关卡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实现核心机制：推箱子 / 嵌套世界进出 / 胜利判定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提供选关界面，作为后续扩展更多关卡的入口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46520" y="1234440"/>
            <a:ext cx="5257800" cy="333756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8988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BEEF5"/>
                </a:solidFill>
                <a:latin typeface="微软雅黑"/>
                <a:ea typeface="微软雅黑"/>
              </a:rPr>
              <a:t>项目目标</a:t>
            </a:r>
            <a:endParaRPr sz="15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8463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A623"/>
                </a:solidFill>
                <a:latin typeface="微软雅黑"/>
                <a:ea typeface="微软雅黑"/>
              </a:rPr>
              <a:t>核心目标　</a:t>
            </a:r>
            <a:r>
              <a:rPr lang="zh-CN" sz="1300" b="1">
                <a:solidFill>
                  <a:srgbClr val="F5A623"/>
                </a:solidFill>
                <a:latin typeface="微软雅黑"/>
                <a:ea typeface="微软雅黑"/>
              </a:rPr>
              <a:t>一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个可完整游玩的复刻关卡 + 选关界面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0" y="239572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69CD6"/>
                </a:solidFill>
                <a:latin typeface="微软雅黑"/>
                <a:ea typeface="微软雅黑"/>
              </a:rPr>
              <a:t>延伸目标　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撤销 / 重置、通关计时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7548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8A2B8"/>
                </a:solidFill>
                <a:latin typeface="微软雅黑"/>
                <a:ea typeface="微软雅黑"/>
              </a:rPr>
              <a:t>规模界定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75120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单人开发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18704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嵌套不限层数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62288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不做编辑器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405872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lang="zh-CN" sz="1100" b="0">
                <a:solidFill>
                  <a:srgbClr val="EBEEF5"/>
                </a:solidFill>
                <a:latin typeface="微软雅黑"/>
                <a:ea typeface="微软雅黑"/>
              </a:rPr>
              <a:t>两周</a:t>
            </a: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交付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遇到的问题 · 嵌套世界逻辑难描述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《递归之箱》阶段汇报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3 / 5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4846320" cy="320040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3502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EEF5"/>
                </a:solidFill>
                <a:latin typeface="微软雅黑"/>
                <a:ea typeface="微软雅黑"/>
              </a:rPr>
              <a:t>核心难点示意 · 箱子即世界</a:t>
            </a:r>
            <a:endParaRPr sz="14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8800" y="1783080"/>
            <a:ext cx="2194560" cy="2194560"/>
          </a:xfrm>
          <a:prstGeom prst="rect">
            <a:avLst/>
          </a:prstGeom>
          <a:noFill/>
          <a:ln w="285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17420" y="2171700"/>
            <a:ext cx="1417320" cy="1417320"/>
          </a:xfrm>
          <a:prstGeom prst="rect">
            <a:avLst/>
          </a:prstGeom>
          <a:noFill/>
          <a:ln w="28575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2514600"/>
            <a:ext cx="731520" cy="731520"/>
          </a:xfrm>
          <a:prstGeom prst="rect">
            <a:avLst/>
          </a:prstGeom>
          <a:noFill/>
          <a:ln w="28575">
            <a:solidFill>
              <a:srgbClr val="6C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837943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5A623"/>
                </a:solidFill>
                <a:latin typeface="微软雅黑"/>
                <a:ea typeface="微软雅黑"/>
              </a:rPr>
              <a:t>外层世界</a:t>
            </a:r>
            <a:endParaRPr sz="1000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08860" y="2226564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569CD6"/>
                </a:solidFill>
                <a:latin typeface="微软雅黑"/>
                <a:ea typeface="微软雅黑"/>
              </a:rPr>
              <a:t>箱子</a:t>
            </a:r>
            <a:endParaRPr sz="1000" b="1">
              <a:solidFill>
                <a:srgbClr val="569CD6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15184" y="2551176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6CC77A"/>
                </a:solidFill>
                <a:latin typeface="微软雅黑"/>
                <a:ea typeface="微软雅黑"/>
              </a:rPr>
              <a:t>内层</a:t>
            </a:r>
            <a:endParaRPr sz="90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2798064" y="2880360"/>
            <a:ext cx="256032" cy="25603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41648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8A2B8"/>
                </a:solidFill>
                <a:latin typeface="微软雅黑"/>
                <a:ea typeface="微软雅黑"/>
              </a:rPr>
              <a:t>箱子里还有世界：位置 / 内容 / 层级三份状态必须同步</a:t>
            </a:r>
            <a:endParaRPr sz="11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23560" y="1188720"/>
            <a:ext cx="6080760" cy="320040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335024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EEF5"/>
                </a:solidFill>
                <a:latin typeface="微软雅黑"/>
                <a:ea typeface="微软雅黑"/>
              </a:rPr>
              <a:t>为什么会难描述（三个来源）</a:t>
            </a:r>
            <a:endParaRPr sz="14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03920" y="1755648"/>
            <a:ext cx="3017520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① 状态耦合：箱子既是实体又是容器</a:t>
            </a:r>
            <a:endParaRPr sz="12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9829800" y="2231136"/>
            <a:ext cx="274320" cy="201168"/>
          </a:xfrm>
          <a:prstGeom prst="downArrow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52160" y="2487168"/>
            <a:ext cx="2286000" cy="8686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6C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00" b="1">
                <a:solidFill>
                  <a:srgbClr val="EBEEF5"/>
                </a:solidFill>
                <a:latin typeface="微软雅黑"/>
                <a:ea typeface="微软雅黑"/>
              </a:rPr>
              <a:t>位置 / 内容 / 层级</a:t>
            </a:r>
            <a:endParaRPr sz="1200" b="1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ctr"/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改一处要动三处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  <a:p>
            <a:pPr algn="ctr"/>
            <a:r>
              <a:rPr sz="1200" b="1">
                <a:solidFill>
                  <a:srgbClr val="EBEEF5"/>
                </a:solidFill>
                <a:latin typeface="微软雅黑"/>
                <a:ea typeface="微软雅黑"/>
              </a:rPr>
              <a:t>必须永远同步</a:t>
            </a:r>
            <a:endParaRPr sz="12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8183879" y="2816352"/>
            <a:ext cx="292608" cy="228600"/>
          </a:xfrm>
          <a:prstGeom prst="rightArrow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0" y="2487168"/>
            <a:ext cx="3017520" cy="8686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50" b="1">
                <a:solidFill>
                  <a:srgbClr val="EBEEF5"/>
                </a:solidFill>
                <a:latin typeface="微软雅黑"/>
                <a:ea typeface="微软雅黑"/>
              </a:rPr>
              <a:t>② 可见性与递归</a:t>
            </a:r>
            <a:endParaRPr sz="1250" b="1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ctr"/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玩家只看当前层，规则要对任意深度成立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9829800" y="3374136"/>
            <a:ext cx="274320" cy="201168"/>
          </a:xfrm>
          <a:prstGeom prst="down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0" y="3593592"/>
            <a:ext cx="3017520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③ 边界与顺序：一动作多结果</a:t>
            </a:r>
            <a:endParaRPr sz="12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45720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EEF5"/>
                </a:solidFill>
                <a:latin typeface="微软雅黑"/>
                <a:ea typeface="微软雅黑"/>
              </a:rPr>
              <a:t>难点关键词</a:t>
            </a:r>
            <a:endParaRPr sz="14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4974336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5A623"/>
                </a:solidFill>
                <a:latin typeface="微软雅黑"/>
                <a:ea typeface="微软雅黑"/>
              </a:rPr>
              <a:t>困难</a:t>
            </a:r>
            <a:endParaRPr sz="1200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234440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状态耦合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200400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可见性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166360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边界爆炸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132319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顺序依赖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" y="5522976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69CD6"/>
                </a:solidFill>
                <a:latin typeface="微软雅黑"/>
                <a:ea typeface="微软雅黑"/>
              </a:rPr>
              <a:t>典型表现</a:t>
            </a:r>
            <a:endParaRPr sz="1200" b="1">
              <a:solidFill>
                <a:srgbClr val="569CD6"/>
              </a:solidFill>
              <a:latin typeface="微软雅黑"/>
              <a:ea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234440" y="5468112"/>
            <a:ext cx="146304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三维状态同步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834640" y="5468112"/>
            <a:ext cx="146304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任意深度成立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434840" y="5468112"/>
            <a:ext cx="146304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一动作多结果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01000" y="5687568"/>
            <a:ext cx="3931920" cy="475488"/>
          </a:xfrm>
          <a:prstGeom prst="roundRect">
            <a:avLst>
              <a:gd name="adj" fmla="val 50000"/>
            </a:avLst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 u="sng">
                <a:solidFill>
                  <a:srgbClr val="7FB2FF"/>
                </a:solidFill>
                <a:latin typeface="微软雅黑"/>
                <a:hlinkClick r:id="rId1"/>
              </a:rPr>
              <a:t>机制只停在口头描述里，每复述一次就可能变一个样</a:t>
            </a:r>
            <a:endParaRPr sz="1200" b="1" u="sng">
              <a:solidFill>
                <a:srgbClr val="7FB2FF"/>
              </a:solidFill>
              <a:latin typeface="微软雅黑"/>
              <a:hlinkClick r:id="rId1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推箱子 + 嵌套逻辑：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《递归之箱》阶段汇报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4 / 5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286000" cy="411480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混乱点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8920" y="1234440"/>
            <a:ext cx="6263640" cy="411480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两种说法（都能自圆其说）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52560" y="1234440"/>
            <a:ext cx="2651760" cy="411480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状态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228600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37160" bIns="18288" rtlCol="0" anchor="ctr"/>
          <a:lstStyle/>
          <a:p>
            <a:pPr algn="l"/>
            <a:r>
              <a:rPr sz="1600" b="1">
                <a:solidFill>
                  <a:srgbClr val="EBEEF5"/>
                </a:solidFill>
                <a:latin typeface="微软雅黑"/>
              </a:rPr>
              <a:t>胜利判定的范围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/>
            <a:r>
              <a:rPr sz="1050" b="0">
                <a:solidFill>
                  <a:srgbClr val="98A2B8"/>
                </a:solidFill>
                <a:latin typeface="微软雅黑"/>
              </a:rPr>
              <a:t>规则未定义</a:t>
            </a:r>
            <a:endParaRPr sz="1100" b="0">
              <a:solidFill>
                <a:srgbClr val="98A2B8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88920" y="1645920"/>
            <a:ext cx="626364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只判玩家当前所在这一层的目标点？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还是外层与所有内层一起判？</a:t>
            </a:r>
            <a:endParaRPr sz="1150" b="0">
              <a:solidFill>
                <a:srgbClr val="EBEEF5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内层也有目标点时，通关条件说不清</a:t>
            </a:r>
            <a:endParaRPr sz="1150" b="0">
              <a:solidFill>
                <a:srgbClr val="EBEEF5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52560" y="1645920"/>
            <a:ext cx="265176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400" b="1">
                <a:solidFill>
                  <a:srgbClr val="F5A623"/>
                </a:solidFill>
                <a:latin typeface="微软雅黑"/>
              </a:rPr>
              <a:t>待对齐</a:t>
            </a:r>
            <a:endParaRPr sz="125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4434840"/>
            <a:ext cx="11201400" cy="685800"/>
          </a:xfrm>
          <a:prstGeom prst="roundRect">
            <a:avLst/>
          </a:prstGeom>
          <a:solidFill>
            <a:srgbClr val="26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8288" rIns="256032" bIns="18288" rtlCol="0" anchor="ctr"/>
          <a:lstStyle/>
          <a:p>
            <a:pPr algn="l"/>
            <a:r>
              <a:rPr sz="1400" b="1">
                <a:solidFill>
                  <a:srgbClr val="F5A623"/>
                </a:solidFill>
                <a:latin typeface="微软雅黑"/>
                <a:ea typeface="微软雅黑"/>
              </a:rPr>
              <a:t>结论　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同一机制在不同文档里有不同说法；写代码前必须逐条对齐，先把术语和“谁在做”定死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54132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混乱来源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0020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术语不统一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06908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规则冲突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3796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顺序依赖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0684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身份二义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8"/>
          <p:cNvSpPr/>
          <p:nvPr/>
        </p:nvSpPr>
        <p:spPr>
          <a:xfrm>
            <a:off x="502920" y="2578608"/>
            <a:ext cx="228600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37160" bIns="18288" rtlCol="0" anchor="ctr"/>
          <a:lstStyle/>
          <a:p>
            <a:pPr algn="l"/>
            <a:r>
              <a:rPr sz="1600" b="1">
                <a:solidFill>
                  <a:srgbClr val="EBEEF5"/>
                </a:solidFill>
                <a:latin typeface="微软雅黑"/>
              </a:rPr>
              <a:t>“进入”的主体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/>
            <a:r>
              <a:rPr sz="1050" b="0">
                <a:solidFill>
                  <a:srgbClr val="98A2B8"/>
                </a:solidFill>
                <a:latin typeface="微软雅黑"/>
              </a:rPr>
              <a:t>术语混用</a:t>
            </a:r>
            <a:endParaRPr sz="1100" b="0">
              <a:solidFill>
                <a:srgbClr val="98A2B8"/>
              </a:solidFill>
              <a:latin typeface="微软雅黑"/>
            </a:endParaRPr>
          </a:p>
        </p:txBody>
      </p:sp>
      <p:sp>
        <p:nvSpPr>
          <p:cNvPr id="13" name="Rectangle 9"/>
          <p:cNvSpPr/>
          <p:nvPr/>
        </p:nvSpPr>
        <p:spPr>
          <a:xfrm>
            <a:off x="2788920" y="2578608"/>
            <a:ext cx="626364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玩家进箱：站在门口、推不动才进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箱子进箱：被推入别人的门 / 被吸入</a:t>
            </a:r>
            <a:endParaRPr sz="1150" b="0">
              <a:solidFill>
                <a:srgbClr val="EBEEF5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都叫“进入”，主体却不是一个</a:t>
            </a:r>
            <a:endParaRPr sz="1150" b="0">
              <a:solidFill>
                <a:srgbClr val="EBEEF5"/>
              </a:solidFill>
              <a:latin typeface="微软雅黑"/>
            </a:endParaRPr>
          </a:p>
        </p:txBody>
      </p:sp>
      <p:sp>
        <p:nvSpPr>
          <p:cNvPr id="14" name="Rectangle 10"/>
          <p:cNvSpPr/>
          <p:nvPr/>
        </p:nvSpPr>
        <p:spPr>
          <a:xfrm>
            <a:off x="9052560" y="2578608"/>
            <a:ext cx="265176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400" b="1">
                <a:solidFill>
                  <a:srgbClr val="F5A623"/>
                </a:solidFill>
                <a:latin typeface="微软雅黑"/>
              </a:rPr>
              <a:t>待对齐</a:t>
            </a:r>
            <a:endParaRPr sz="125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  <p:sp>
        <p:nvSpPr>
          <p:cNvPr id="15" name="Rectangle 8"/>
          <p:cNvSpPr/>
          <p:nvPr/>
        </p:nvSpPr>
        <p:spPr>
          <a:xfrm>
            <a:off x="502920" y="3511296"/>
            <a:ext cx="228600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37160" bIns="18288" rtlCol="0" anchor="ctr"/>
          <a:lstStyle/>
          <a:p>
            <a:pPr algn="l"/>
            <a:r>
              <a:rPr sz="1600" b="1">
                <a:solidFill>
                  <a:srgbClr val="EBEEF5"/>
                </a:solidFill>
                <a:latin typeface="微软雅黑"/>
              </a:rPr>
              <a:t>出口的落点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/>
            <a:r>
              <a:rPr sz="1050" b="0">
                <a:solidFill>
                  <a:srgbClr val="98A2B8"/>
                </a:solidFill>
                <a:latin typeface="微软雅黑"/>
              </a:rPr>
              <a:t>一句话两读</a:t>
            </a:r>
            <a:endParaRPr sz="1100" b="0">
              <a:solidFill>
                <a:srgbClr val="98A2B8"/>
              </a:solidFill>
              <a:latin typeface="微软雅黑"/>
            </a:endParaRPr>
          </a:p>
        </p:txBody>
      </p:sp>
      <p:sp>
        <p:nvSpPr>
          <p:cNvPr id="16" name="Rectangle 9"/>
          <p:cNvSpPr/>
          <p:nvPr/>
        </p:nvSpPr>
        <p:spPr>
          <a:xfrm>
            <a:off x="2788920" y="3511296"/>
            <a:ext cx="626364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“进入时的箱子位置”＝记下当时坐标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也可读成＝退出时现查箱子的位置</a:t>
            </a:r>
            <a:endParaRPr sz="1150" b="0">
              <a:solidFill>
                <a:srgbClr val="EBEEF5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箱子被移动后，两种读法结果不同</a:t>
            </a:r>
            <a:endParaRPr sz="1150" b="0">
              <a:solidFill>
                <a:srgbClr val="EBEEF5"/>
              </a:solidFill>
              <a:latin typeface="微软雅黑"/>
            </a:endParaRPr>
          </a:p>
        </p:txBody>
      </p:sp>
      <p:sp>
        <p:nvSpPr>
          <p:cNvPr id="17" name="Rectangle 10"/>
          <p:cNvSpPr/>
          <p:nvPr/>
        </p:nvSpPr>
        <p:spPr>
          <a:xfrm>
            <a:off x="9052560" y="3511296"/>
            <a:ext cx="265176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400" b="1">
                <a:solidFill>
                  <a:srgbClr val="F5A623"/>
                </a:solidFill>
                <a:latin typeface="微软雅黑"/>
              </a:rPr>
              <a:t>待对齐</a:t>
            </a:r>
            <a:endParaRPr sz="125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计划安排 · 甘特图（9.10 – 9.17，单人）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《递归之箱》阶段汇报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5 / 5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33502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8A2B8"/>
                </a:solidFill>
                <a:latin typeface="微软雅黑"/>
                <a:ea typeface="微软雅黑"/>
              </a:rPr>
              <a:t>任务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3756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9/10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8912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9/11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40679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9/12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9224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9/13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4380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9/14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9536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9/15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646919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9/16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698480" y="1298448"/>
            <a:ext cx="1051560" cy="347472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1">
                <a:solidFill>
                  <a:srgbClr val="EBEEF5"/>
                </a:solidFill>
                <a:latin typeface="微软雅黑"/>
                <a:ea typeface="微软雅黑"/>
              </a:rPr>
              <a:t>9/17</a:t>
            </a:r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32988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4548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36107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87668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39227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0788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42347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93907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745467" y="1298448"/>
            <a:ext cx="10972" cy="4443984"/>
          </a:xfrm>
          <a:prstGeom prst="rect">
            <a:avLst/>
          </a:prstGeom>
          <a:solidFill>
            <a:srgbClr val="3E4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178308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开题汇报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392424" y="1737360"/>
            <a:ext cx="941831" cy="329184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295144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Pygame 骨架：窗口 / 主循环 / 渲染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392424" y="2249424"/>
            <a:ext cx="1993391" cy="329184"/>
          </a:xfrm>
          <a:prstGeom prst="roundRect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807208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推箱子逻辑：移动 / 碰撞 / 判定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443983" y="2761488"/>
            <a:ext cx="941831" cy="329184"/>
          </a:xfrm>
          <a:prstGeom prst="roundRect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319272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嵌套世界：进入 / 退出 / 状态同步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495543" y="3273552"/>
            <a:ext cx="941831" cy="329184"/>
          </a:xfrm>
          <a:prstGeom prst="roundRect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6345936" y="3291840"/>
            <a:ext cx="274320" cy="274320"/>
          </a:xfrm>
          <a:prstGeom prst="diamond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831336"/>
            <a:ext cx="278892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关卡 + 选关界面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47103" y="3785616"/>
            <a:ext cx="941831" cy="329184"/>
          </a:xfrm>
          <a:prstGeom prst="roundRect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34340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测试修复 · 功能冻结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598664" y="4297680"/>
            <a:ext cx="941831" cy="329184"/>
          </a:xfrm>
          <a:prstGeom prst="roundRect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8449056" y="4315968"/>
            <a:ext cx="274320" cy="274320"/>
          </a:xfrm>
          <a:prstGeom prst="diamond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855464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演示视频 + 版本归档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650224" y="4809744"/>
            <a:ext cx="941831" cy="329184"/>
          </a:xfrm>
          <a:prstGeom prst="roundRect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367528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项目文档 + 打包提交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701784" y="5321808"/>
            <a:ext cx="1993391" cy="329184"/>
          </a:xfrm>
          <a:prstGeom prst="roundRect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6044184"/>
            <a:ext cx="201168" cy="201168"/>
          </a:xfrm>
          <a:prstGeom prst="rect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99846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开发实现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057400" y="6044184"/>
            <a:ext cx="201168" cy="201168"/>
          </a:xfrm>
          <a:prstGeom prst="rect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04288" y="599846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交付整理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611880" y="6044184"/>
            <a:ext cx="201168" cy="2011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58768" y="599846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里程碑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852160" y="5998464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里程碑：9/12 核心机制打通 · 9/14 功能冻结 · 9/17 答辩缓冲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49" name="Rectangle 6"/>
          <p:cNvSpPr/>
          <p:nvPr/>
        </p:nvSpPr>
        <p:spPr>
          <a:xfrm>
            <a:off x="7315200" y="237744"/>
            <a:ext cx="4434840" cy="868680"/>
          </a:xfrm>
          <a:prstGeom prst="rect">
            <a:avLst/>
          </a:prstGeom>
          <a:solidFill>
            <a:srgbClr val="262C42"/>
          </a:solidFill>
          <a:ln w="635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 sz="11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50" name="TextBox 23"/>
          <p:cNvSpPr txBox="1"/>
          <p:nvPr/>
        </p:nvSpPr>
        <p:spPr>
          <a:xfrm>
            <a:off x="7452360" y="292608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F5A623"/>
                </a:solidFill>
                <a:latin typeface="微软雅黑"/>
                <a:ea typeface="微软雅黑"/>
              </a:rPr>
              <a:t>当前困难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51" name="TextBox 42"/>
          <p:cNvSpPr txBox="1"/>
          <p:nvPr/>
        </p:nvSpPr>
        <p:spPr>
          <a:xfrm>
            <a:off x="7452360" y="585216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EBEEF5"/>
                </a:solidFill>
                <a:latin typeface="微软雅黑"/>
                <a:ea typeface="微软雅黑"/>
              </a:rPr>
              <a:t>机制设计占去 9/10–9/14，编码刚起步；9/15 打通核心机制、9/16 功能冻结，测试与渲染压力集中。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</Words>
  <Application>WPS 文字</Application>
  <PresentationFormat>On-screen Show (4:3)</PresentationFormat>
  <Paragraphs>199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微软雅黑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董长坤</cp:lastModifiedBy>
  <cp:revision>6</cp:revision>
  <dcterms:created xsi:type="dcterms:W3CDTF">2026-09-15T05:41:25Z</dcterms:created>
  <dcterms:modified xsi:type="dcterms:W3CDTF">2026-09-15T05:41:25Z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ECDB9A1BAA95B1C1271BA16AB09BFE72_42</vt:lpwstr>
  </property>
  <property fmtid="{D5CDD505-2E9C-101B-9397-08002B2CF9AE}" pid="3" name="KSOProductBuildVer">
    <vt:lpwstr>2052-12.1.23540.23540</vt:lpwstr>
  </property>
</Properties>
</file>