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313224" y="1737360"/>
            <a:ext cx="3566160" cy="3566160"/>
          </a:xfrm>
          <a:prstGeom prst="rect">
            <a:avLst/>
          </a:prstGeom>
          <a:noFill/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930444" y="2354580"/>
            <a:ext cx="2331720" cy="2331720"/>
          </a:xfrm>
          <a:prstGeom prst="rect">
            <a:avLst/>
          </a:prstGeom>
          <a:noFill/>
          <a:ln w="3175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01944" y="2926080"/>
            <a:ext cx="1188720" cy="1188720"/>
          </a:xfrm>
          <a:prstGeom prst="rect">
            <a:avLst/>
          </a:prstGeom>
          <a:noFill/>
          <a:ln w="31750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22952" y="1810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F5A623"/>
                </a:solidFill>
                <a:latin typeface="微软雅黑"/>
                <a:ea typeface="微软雅黑"/>
              </a:rPr>
              <a:t>外层世界</a:t>
            </a:r>
            <a:endParaRPr sz="11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40172" y="2427732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569CD6"/>
                </a:solidFill>
                <a:latin typeface="微软雅黑"/>
                <a:ea typeface="微软雅黑"/>
              </a:rPr>
              <a:t>箱子</a:t>
            </a:r>
            <a:endParaRPr sz="11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75096" y="2971800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6CC77A"/>
                </a:solidFill>
                <a:latin typeface="微软雅黑"/>
                <a:ea typeface="微软雅黑"/>
              </a:rPr>
              <a:t>内层世界</a:t>
            </a:r>
            <a:endParaRPr sz="100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8" name="Oval 7"/>
          <p:cNvSpPr/>
          <p:nvPr/>
        </p:nvSpPr>
        <p:spPr>
          <a:xfrm>
            <a:off x="5950000" y="3502152"/>
            <a:ext cx="292608" cy="292608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685800"/>
            <a:ext cx="94457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600" b="1">
                <a:solidFill>
                  <a:srgbClr val="EBEEF5"/>
                </a:solidFill>
                <a:latin typeface="微软雅黑"/>
                <a:ea typeface="微软雅黑"/>
              </a:rPr>
              <a:t>递归之箱</a:t>
            </a:r>
            <a:endParaRPr sz="4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9445752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98A2B8"/>
                </a:solidFill>
                <a:latin typeface="微软雅黑"/>
                <a:ea typeface="微软雅黑"/>
              </a:rPr>
              <a:t>Patrick's Parabox 关卡复刻 · Python 游戏开发实践</a:t>
            </a:r>
            <a:endParaRPr sz="16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5532120"/>
            <a:ext cx="94457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EBEEF5"/>
                </a:solidFill>
                <a:latin typeface="微软雅黑"/>
                <a:ea typeface="微软雅黑"/>
              </a:rPr>
              <a:t>软件工程设计课程 · 结课汇报</a:t>
            </a:r>
            <a:endParaRPr sz="14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5989320"/>
            <a:ext cx="94457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8A2B8"/>
                </a:solidFill>
                <a:latin typeface="微软雅黑"/>
                <a:ea typeface="微软雅黑"/>
              </a:rPr>
              <a:t>完成人：董长坤　　2026 年 9 月 17 日</a:t>
            </a:r>
            <a:endParaRPr sz="13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pic>
        <p:nvPicPr>
          <p:cNvPr id="13" name="Picture 12" descr="patricks_parabo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475488"/>
            <a:ext cx="2788920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项目介绍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《递归之箱》结课汇报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2 / 10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577840" cy="2590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这是什么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用 Python + Pygame 复刻《Patrick's Parabox》的完整玩法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推箱子 + 箱子内部是另一个可以走进去的世界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箱子之间能互相进出：吞食、穿口、跨层搬运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规模与产出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2 个关卡（「测试」5 步通关 /「吞食01」37 步通关）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7 个源码模块 1326 行 + 108 个自动化测试 1043 行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234440"/>
            <a:ext cx="5257800" cy="333756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8988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EEF5"/>
                </a:solidFill>
                <a:latin typeface="微软雅黑"/>
                <a:ea typeface="微软雅黑"/>
              </a:rPr>
              <a:t>核心机制</a:t>
            </a:r>
            <a:endParaRPr sz="15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微软雅黑"/>
                <a:ea typeface="微软雅黑"/>
              </a:rPr>
              <a:t>推箱与链推动　</a:t>
            </a:r>
            <a:r>
              <a:rPr lang="zh-CN" sz="1300" b="1">
                <a:solidFill>
                  <a:srgbClr val="F5A623"/>
                </a:solidFill>
                <a:latin typeface="微软雅黑"/>
                <a:ea typeface="微软雅黑"/>
              </a:rPr>
              <a:t>整条链同时移动一格，链尾受阻则全链不动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23957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9CD6"/>
                </a:solidFill>
                <a:latin typeface="微软雅黑"/>
                <a:ea typeface="微软雅黑"/>
              </a:rPr>
              <a:t>双向穿口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箱子能被推进别人的口，也能从内部被推出来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7548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关键词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嵌套世界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18704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吞食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62288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跨层冻结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405872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zh-CN" sz="1100" b="0">
                <a:solidFill>
                  <a:srgbClr val="EBEEF5"/>
                </a:solidFill>
                <a:latin typeface="微软雅黑"/>
                <a:ea typeface="微软雅黑"/>
              </a:rPr>
              <a:t>双条件判定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pic>
        <p:nvPicPr>
          <p:cNvPr id="16" name="Picture 15" descr="art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681728"/>
            <a:ext cx="2761488" cy="155333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01568" y="4800600"/>
            <a:ext cx="827532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5A623"/>
                </a:solidFill>
                <a:latin typeface="微软雅黑"/>
                <a:ea typeface="微软雅黑"/>
              </a:rPr>
              <a:t>美术：纯色平涂（无贴图、无渐变）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98A2B8"/>
                </a:solidFill>
                <a:latin typeface="微软雅黑"/>
                <a:ea typeface="微软雅黑"/>
              </a:rPr>
              <a:t>墙淡灰 / 外层空地深灰 / 内部空间深黄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98A2B8"/>
                </a:solidFill>
                <a:latin typeface="微软雅黑"/>
                <a:ea typeface="微软雅黑"/>
              </a:rPr>
              <a:t>玩家洋红 · 含内部空间的方块黄 · 普通方块蓝；判定点达成时描边发亮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软件架构设计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《递归之箱》结课汇报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3 / 10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188720"/>
            <a:ext cx="4846320" cy="320040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350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三层结构 · 依赖方向单向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28800" y="1783080"/>
            <a:ext cx="2194560" cy="2194560"/>
          </a:xfrm>
          <a:prstGeom prst="rect">
            <a:avLst/>
          </a:prstGeom>
          <a:noFill/>
          <a:ln w="2857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17420" y="2171700"/>
            <a:ext cx="1417320" cy="1417320"/>
          </a:xfrm>
          <a:prstGeom prst="rect">
            <a:avLst/>
          </a:prstGeom>
          <a:noFill/>
          <a:ln w="28575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60320" y="2514600"/>
            <a:ext cx="731520" cy="731520"/>
          </a:xfrm>
          <a:prstGeom prst="rect">
            <a:avLst/>
          </a:prstGeom>
          <a:noFill/>
          <a:ln w="28575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1837943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F5A623"/>
                </a:solidFill>
                <a:latin typeface="微软雅黑"/>
                <a:ea typeface="微软雅黑"/>
              </a:rPr>
              <a:t>驱动层 · 游戏循环</a:t>
            </a:r>
            <a:endParaRPr sz="10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8860" y="2226564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569CD6"/>
                </a:solidFill>
                <a:latin typeface="微软雅黑"/>
                <a:ea typeface="微软雅黑"/>
              </a:rPr>
              <a:t>表现层 · 绘制 / 选关</a:t>
            </a:r>
            <a:endParaRPr sz="10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15184" y="2551176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1">
                <a:solidFill>
                  <a:srgbClr val="6CC77A"/>
                </a:solidFill>
                <a:latin typeface="微软雅黑"/>
                <a:ea typeface="微软雅黑"/>
              </a:rPr>
              <a:t>逻辑层</a:t>
            </a:r>
            <a:endParaRPr sz="90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798064" y="2880360"/>
            <a:ext cx="256032" cy="256032"/>
          </a:xfrm>
          <a:prstGeom prst="ellipse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041648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>
                <a:solidFill>
                  <a:srgbClr val="98A2B8"/>
                </a:solidFill>
                <a:latin typeface="微软雅黑"/>
                <a:ea typeface="微软雅黑"/>
              </a:rPr>
              <a:t>依赖方向单向：驱动 → 表现 → 逻辑；纯逻辑层禁止 import pygame</a:t>
            </a:r>
            <a:endParaRPr sz="11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623560" y="1188720"/>
            <a:ext cx="6080760" cy="320040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1335024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模块与数据流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503920" y="1755648"/>
            <a:ext cx="3017520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0">
                <a:solidFill>
                  <a:srgbClr val="EBEEF5"/>
                </a:solidFill>
                <a:latin typeface="微软雅黑"/>
                <a:ea typeface="微软雅黑"/>
              </a:rPr>
              <a:t>输入 · 键盘 → 语义动作（推 / 进 / 出 / 撤销）</a:t>
            </a:r>
            <a:endParaRPr sz="12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9" name="Down Arrow 18"/>
          <p:cNvSpPr/>
          <p:nvPr/>
        </p:nvSpPr>
        <p:spPr>
          <a:xfrm>
            <a:off x="9829800" y="2231136"/>
            <a:ext cx="274320" cy="201168"/>
          </a:xfrm>
          <a:prstGeom prst="downArrow">
            <a:avLst/>
          </a:prstGeom>
          <a:solidFill>
            <a:srgbClr val="569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852160" y="2487168"/>
            <a:ext cx="2286000" cy="8686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6CC7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1">
                <a:solidFill>
                  <a:srgbClr val="EBEEF5"/>
                </a:solidFill>
                <a:latin typeface="微软雅黑"/>
                <a:ea typeface="微软雅黑"/>
              </a:rPr>
              <a:t>逻辑层 · world.py / entity.py</a:t>
            </a:r>
            <a:endParaRPr sz="12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ctr"/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地图 · 嵌套 dict · 口（door）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  <a:p>
            <a:pPr algn="ctr"/>
            <a:r>
              <a:rPr sz="1200" b="1">
                <a:solidFill>
                  <a:srgbClr val="EBEEF5"/>
                </a:solidFill>
                <a:latin typeface="微软雅黑"/>
                <a:ea typeface="微软雅黑"/>
              </a:rPr>
              <a:t>logic.py / nested.py</a:t>
            </a:r>
            <a:endParaRPr sz="12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8183879" y="2816352"/>
            <a:ext cx="292608" cy="228600"/>
          </a:xfrm>
          <a:prstGeom prst="rightArrow">
            <a:avLst/>
          </a:prstGeom>
          <a:solidFill>
            <a:srgbClr val="6CC7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0" y="2487168"/>
            <a:ext cx="3017520" cy="8686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50" b="1">
                <a:solidFill>
                  <a:srgbClr val="EBEEF5"/>
                </a:solidFill>
                <a:latin typeface="微软雅黑"/>
                <a:ea typeface="微软雅黑"/>
              </a:rPr>
              <a:t>表现层 · render.py / ui.py（只读状态）</a:t>
            </a:r>
            <a:endParaRPr sz="125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ctr"/>
            <a:r>
              <a:rPr sz="1050" b="0">
                <a:solidFill>
                  <a:srgbClr val="98A2B8"/>
                </a:solidFill>
                <a:latin typeface="微软雅黑"/>
                <a:ea typeface="微软雅黑"/>
              </a:rPr>
              <a:t>状态：嵌套 dict，层数由数据决定</a:t>
            </a:r>
            <a:endParaRPr sz="105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9829800" y="3374136"/>
            <a:ext cx="274320" cy="201168"/>
          </a:xfrm>
          <a:prstGeom prst="downArrow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03920" y="3593592"/>
            <a:ext cx="3017520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200" b="0">
                <a:solidFill>
                  <a:srgbClr val="EBEEF5"/>
                </a:solidFill>
                <a:latin typeface="微软雅黑"/>
                <a:ea typeface="微软雅黑"/>
              </a:rPr>
              <a:t>只用标准库 + Pygame，不引第三方引擎</a:t>
            </a:r>
            <a:endParaRPr sz="12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457200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BEEF5"/>
                </a:solidFill>
                <a:latin typeface="微软雅黑"/>
                <a:ea typeface="微软雅黑"/>
              </a:rPr>
              <a:t>工程质量</a:t>
            </a:r>
            <a:endParaRPr sz="14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4974336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F5A623"/>
                </a:solidFill>
                <a:latin typeface="微软雅黑"/>
                <a:ea typeface="微软雅黑"/>
              </a:rPr>
              <a:t>约束</a:t>
            </a:r>
            <a:endParaRPr sz="1200" b="1">
              <a:solidFill>
                <a:srgbClr val="F5A623"/>
              </a:solidFill>
              <a:latin typeface="微软雅黑"/>
              <a:ea typeface="微软雅黑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23444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逻辑层禁 pygame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20040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依赖单向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166360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状态可深拷贝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132319" y="4919472"/>
            <a:ext cx="182880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改完必跑测试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5522976"/>
            <a:ext cx="685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569CD6"/>
                </a:solidFill>
                <a:latin typeface="微软雅黑"/>
                <a:ea typeface="微软雅黑"/>
              </a:rPr>
              <a:t>文档</a:t>
            </a:r>
            <a:endParaRPr sz="1200" b="1">
              <a:solidFill>
                <a:srgbClr val="569CD6"/>
              </a:solidFill>
              <a:latin typeface="微软雅黑"/>
              <a:ea typeface="微软雅黑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2344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AGENTS.md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8346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RULE.md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434840" y="5468112"/>
            <a:ext cx="1463040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569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SKILL.md ×4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001000" y="5687568"/>
            <a:ext cx="3931920" cy="475488"/>
          </a:xfrm>
          <a:prstGeom prst="roundRect">
            <a:avLst>
              <a:gd name="adj" fmla="val 50000"/>
            </a:avLst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50" b="1" u="sng">
                <a:solidFill>
                  <a:srgbClr val="7FB2FF"/>
                </a:solidFill>
                <a:latin typeface="微软雅黑"/>
                <a:hlinkClick r:id="rId1"/>
              </a:rPr>
              <a:t>文档与实现由测试守护：色板逐值比对 + 对比度阈值 + 渲染只读断言</a:t>
            </a:r>
            <a:endParaRPr sz="1200" b="1" u="sng">
              <a:solidFill>
                <a:srgbClr val="7FB2FF"/>
              </a:solidFill>
              <a:latin typeface="微软雅黑"/>
              <a:hlinkClick r:id="rId1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关键算法 · 一次按键的完整判定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《递归之箱》结课汇报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4 / 10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22208" y="1225296"/>
            <a:ext cx="3182112" cy="301752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33502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EEF5"/>
                </a:solidFill>
                <a:latin typeface="微软雅黑"/>
                <a:ea typeface="微软雅黑"/>
              </a:rPr>
              <a:t>分支顺序 = 规则优先级</a:t>
            </a:r>
            <a:endParaRPr sz="15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0" y="1783080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微软雅黑"/>
                <a:ea typeface="微软雅黑"/>
              </a:rPr>
              <a:t>先判口　</a:t>
            </a:r>
            <a:r>
              <a:rPr lang="zh-CN" sz="1300" b="1">
                <a:solidFill>
                  <a:srgbClr val="F5A623"/>
                </a:solidFill>
                <a:latin typeface="微软雅黑"/>
                <a:ea typeface="微软雅黑"/>
              </a:rPr>
              <a:t>站在口格朝外走 = 退出内层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0" y="2377440"/>
            <a:ext cx="285292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9CD6"/>
                </a:solidFill>
                <a:latin typeface="微软雅黑"/>
                <a:ea typeface="微软雅黑"/>
              </a:rPr>
              <a:t>再判碰撞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墙 → 不动；空格 → 走一格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0" y="29718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被拒绝的操作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686800" y="3383280"/>
            <a:ext cx="1170432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不记步数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9966960" y="3383280"/>
            <a:ext cx="1170432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不进撤销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686800" y="3886200"/>
            <a:ext cx="1170432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状态不变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966960" y="3886200"/>
            <a:ext cx="1170432" cy="41148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zh-CN" sz="1100" b="0">
                <a:solidFill>
                  <a:srgbClr val="EBEEF5"/>
                </a:solidFill>
                <a:latin typeface="微软雅黑"/>
                <a:ea typeface="微软雅黑"/>
              </a:rPr>
              <a:t>可重试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pic>
        <p:nvPicPr>
          <p:cNvPr id="16" name="Picture 15" descr="flow_mo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188720"/>
            <a:ext cx="7882127" cy="49263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0" y="4846320"/>
            <a:ext cx="28803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F5A623"/>
                </a:solidFill>
                <a:latin typeface="微软雅黑"/>
                <a:ea typeface="微软雅黑"/>
              </a:rPr>
              <a:t>六条分支全部有单元测试覆盖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98A2B8"/>
                </a:solidFill>
                <a:latin typeface="微软雅黑"/>
                <a:ea typeface="微软雅黑"/>
              </a:rPr>
              <a:t>① 退出内层 ② 撞墙 ③ 走一格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98A2B8"/>
                </a:solidFill>
                <a:latin typeface="微软雅黑"/>
                <a:ea typeface="微软雅黑"/>
              </a:rPr>
              <a:t>④ 整链前进 ⑤ 吸入 ⑥ 进入箱子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  <a:p>
            <a:pPr algn="l">
              <a:spcAft>
                <a:spcPts val="600"/>
              </a:spcAft>
            </a:pPr>
            <a:r>
              <a:rPr sz="1100" b="1">
                <a:solidFill>
                  <a:srgbClr val="98A2B8"/>
                </a:solidFill>
                <a:latin typeface="微软雅黑"/>
                <a:ea typeface="微软雅黑"/>
              </a:rPr>
              <a:t>⑦ 否则状态不变（操作被拒绝）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关键实现 ① · 口由内层地图边缘决定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《递归之箱》结课汇报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5 / 10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577840" cy="2590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问题：一个箱子能从哪条边进出？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最初用方向字段：一个箱子只能有一个门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但“哪条边能进”应该由地图本身表达，而不是外挂字段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改成：内层宽高必须为奇数，四条边的中心格就是口位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规则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中心格是墙 → 这条边进不去；边缘除中心格外必须都是墙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箱子双向穿口：能被推进别人的口，也能从内部被推出来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「吞食01」就靠它：必须先把箱子吞进 A，再从里面推出来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234440"/>
            <a:ext cx="5257800" cy="333756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8988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EEF5"/>
                </a:solidFill>
                <a:latin typeface="微软雅黑"/>
                <a:ea typeface="微软雅黑"/>
              </a:rPr>
              <a:t>规则取舍</a:t>
            </a:r>
            <a:endParaRPr sz="15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微软雅黑"/>
                <a:ea typeface="微软雅黑"/>
              </a:rPr>
              <a:t>方向字段　</a:t>
            </a:r>
            <a:r>
              <a:rPr lang="zh-CN" sz="1300" b="1">
                <a:solidFill>
                  <a:srgbClr val="F5A623"/>
                </a:solidFill>
                <a:latin typeface="微软雅黑"/>
                <a:ea typeface="微软雅黑"/>
              </a:rPr>
              <a:t>写起来简单，但表达力弱、容易和地图脱节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23957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9CD6"/>
                </a:solidFill>
                <a:latin typeface="微软雅黑"/>
                <a:ea typeface="微软雅黑"/>
              </a:rPr>
              <a:t>边缘墙规则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复杂一点，但所见即所得：墙上的缺口就是门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7548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关键词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中心格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18704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双向穿口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62288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吞食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405872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zh-CN" sz="1100" b="0">
                <a:solidFill>
                  <a:srgbClr val="EBEEF5"/>
                </a:solidFill>
                <a:latin typeface="微软雅黑"/>
                <a:ea typeface="微软雅黑"/>
              </a:rPr>
              <a:t>隧道解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关键实现 ② · 状态模型与撤销 / 重置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《递归之箱》结课汇报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6 / 10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577840" cy="2590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状态长什么样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世界 = 嵌套 dict：tiles / boxes / inner_world 递归下去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玩家只记“在哪一层 + 格子坐标”，路径就是层级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层数由关卡数据决定，代码里没有任何写死的深度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撤销 / 重置为什么是白送的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所有操作都是纯函数：不改传入状态，返回新状态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撤销 = 弹一次快照；重置 = 回到初始快照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一次按键只记一步（搬运路径曾重复计数，被测试抓出并修掉）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234440"/>
            <a:ext cx="5257800" cy="333756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8988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EEF5"/>
                </a:solidFill>
                <a:latin typeface="微软雅黑"/>
                <a:ea typeface="微软雅黑"/>
              </a:rPr>
              <a:t>工程细节</a:t>
            </a:r>
            <a:endParaRPr sz="15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微软雅黑"/>
                <a:ea typeface="微软雅黑"/>
              </a:rPr>
              <a:t>深拷贝快照　</a:t>
            </a:r>
            <a:r>
              <a:rPr lang="zh-CN" sz="1300" b="1">
                <a:solidFill>
                  <a:srgbClr val="F5A623"/>
                </a:solidFill>
                <a:latin typeface="微软雅黑"/>
                <a:ea typeface="微软雅黑"/>
              </a:rPr>
              <a:t>每步一份状态，撤销不需要额外逻辑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23957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9CD6"/>
                </a:solidFill>
                <a:latin typeface="微软雅黑"/>
                <a:ea typeface="微软雅黑"/>
              </a:rPr>
              <a:t>渲染只读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画完一帧后断言状态完全一致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7548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关键词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纯函数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18704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嵌套 dict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62288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快照撤销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405872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zh-CN" sz="1100" b="0">
                <a:solidFill>
                  <a:srgbClr val="EBEEF5"/>
                </a:solidFill>
                <a:latin typeface="微软雅黑"/>
                <a:ea typeface="微软雅黑"/>
              </a:rPr>
              <a:t>只读渲染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关键实现 ③ · 验证与自动化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《递归之箱》结课汇报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7 / 10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577840" cy="2590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108 个自动化测试（1043 行）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规则 41：推箱 / 链推动 / 吸入 / 进出 / 双向穿口 / 自引用 / 胜判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数据 44：关卡解析与非法数据 / 口规则 / 嵌套校验 / 目标点统计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渲染 23：色板与文档一致 / 对比度 / 缩略图几何 / 渲染只读 / 选关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自研 BFS 解算器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自动判定“有解 / 无解”并求出最短步数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吞食01：先算出 21 步“隧道解”（绕过吞食）→ 查出误加的底边口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修正后是 37 步必吞食解；两关解法都固化成回归测试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234440"/>
            <a:ext cx="5257800" cy="333756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8988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EEF5"/>
                </a:solidFill>
                <a:latin typeface="微软雅黑"/>
                <a:ea typeface="微软雅黑"/>
              </a:rPr>
              <a:t>验证结果</a:t>
            </a:r>
            <a:endParaRPr sz="15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微软雅黑"/>
                <a:ea typeface="微软雅黑"/>
              </a:rPr>
              <a:t>测试　</a:t>
            </a:r>
            <a:r>
              <a:rPr lang="zh-CN" sz="1300" b="1">
                <a:solidFill>
                  <a:srgbClr val="F5A623"/>
                </a:solidFill>
                <a:latin typeface="微软雅黑"/>
                <a:ea typeface="微软雅黑"/>
              </a:rPr>
              <a:t>108 / 108 通过；系统 Python 下渲染用例自动跳过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23957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9CD6"/>
                </a:solidFill>
                <a:latin typeface="微软雅黑"/>
                <a:ea typeface="微软雅黑"/>
              </a:rPr>
              <a:t>可解性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两关都有最短解测试，改坏立刻报红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7548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关键词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解算器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18704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最短步数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62288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回归测试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405872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zh-CN" sz="1100" b="0">
                <a:solidFill>
                  <a:srgbClr val="EBEEF5"/>
                </a:solidFill>
                <a:latin typeface="微软雅黑"/>
                <a:ea typeface="微软雅黑"/>
              </a:rPr>
              <a:t>文档一致性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项目目标达成情况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《递归之箱》结课汇报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8 / 10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228600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目标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8920" y="1234440"/>
            <a:ext cx="626364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内容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52560" y="1234440"/>
            <a:ext cx="2651760" cy="411480"/>
          </a:xfrm>
          <a:prstGeom prst="rect">
            <a:avLst/>
          </a:prstGeom>
          <a:solidFill>
            <a:srgbClr val="262C4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状态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228600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37160" bIns="18288" rtlCol="0" anchor="ctr"/>
          <a:lstStyle/>
          <a:p>
            <a:pPr algn="l"/>
            <a:r>
              <a:rPr sz="1600" b="1">
                <a:solidFill>
                  <a:srgbClr val="EBEEF5"/>
                </a:solidFill>
                <a:latin typeface="微软雅黑"/>
              </a:rPr>
              <a:t>必做 · 开题承诺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/>
            <a:r>
              <a:rPr sz="1050" b="0">
                <a:solidFill>
                  <a:srgbClr val="98A2B8"/>
                </a:solidFill>
                <a:latin typeface="微软雅黑"/>
              </a:rPr>
              <a:t>4 / 4</a:t>
            </a:r>
            <a:endParaRPr sz="1100" b="0">
              <a:solidFill>
                <a:srgbClr val="98A2B8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88920" y="1645920"/>
            <a:ext cx="626364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推箱子移动 + 箱子链推动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嵌套世界进出（口由内层边缘决定）</a:t>
            </a:r>
            <a:endParaRPr sz="1150" b="0">
              <a:solidFill>
                <a:srgbClr val="EBEEF5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胜利判定：所有 g 被箱子盖住 + 玩家站上 G</a:t>
            </a:r>
            <a:endParaRPr sz="1150" b="0">
              <a:solidFill>
                <a:srgbClr val="EBEEF5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52560" y="1645920"/>
            <a:ext cx="265176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6CC77A"/>
                </a:solidFill>
                <a:latin typeface="微软雅黑"/>
              </a:rPr>
              <a:t>✅ 达成</a:t>
            </a:r>
            <a:endParaRPr sz="125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2920" y="4434840"/>
            <a:ext cx="11201400" cy="685800"/>
          </a:xfrm>
          <a:prstGeom prst="roundRect">
            <a:avLst/>
          </a:prstGeom>
          <a:solidFill>
            <a:srgbClr val="26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18288" rIns="256032" bIns="18288" rtlCol="0" anchor="ctr"/>
          <a:lstStyle/>
          <a:p>
            <a:pPr algn="l"/>
            <a:r>
              <a:rPr sz="1400" b="1">
                <a:solidFill>
                  <a:srgbClr val="F5A623"/>
                </a:solidFill>
                <a:latin typeface="微软雅黑"/>
                <a:ea typeface="微软雅黑"/>
              </a:rPr>
              <a:t>结论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开题承诺的必做项全部达成；选做完成 1 项，其余与动画、更多关卡一起列为后续方向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54132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BEEF5"/>
                </a:solidFill>
                <a:latin typeface="微软雅黑"/>
                <a:ea typeface="微软雅黑"/>
              </a:rPr>
              <a:t>项目数据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60020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7 个模块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06908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1326 行源码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3796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108 个测试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006840" y="5349240"/>
            <a:ext cx="2286000" cy="457200"/>
          </a:xfrm>
          <a:prstGeom prst="roundRect">
            <a:avLst/>
          </a:prstGeom>
          <a:solidFill>
            <a:srgbClr val="1C213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50" b="0">
                <a:solidFill>
                  <a:srgbClr val="EBEEF5"/>
                </a:solidFill>
                <a:latin typeface="微软雅黑"/>
                <a:ea typeface="微软雅黑"/>
              </a:rPr>
              <a:t>2 个关卡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2578608"/>
            <a:ext cx="228600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37160" bIns="18288" rtlCol="0" anchor="ctr"/>
          <a:lstStyle/>
          <a:p>
            <a:pPr algn="l"/>
            <a:r>
              <a:rPr sz="1600" b="1">
                <a:solidFill>
                  <a:srgbClr val="EBEEF5"/>
                </a:solidFill>
                <a:latin typeface="微软雅黑"/>
              </a:rPr>
              <a:t>选做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/>
            <a:r>
              <a:rPr sz="1050" b="0">
                <a:solidFill>
                  <a:srgbClr val="98A2B8"/>
                </a:solidFill>
                <a:latin typeface="微软雅黑"/>
              </a:rPr>
              <a:t>1 / 3</a:t>
            </a:r>
            <a:endParaRPr sz="1100" b="0">
              <a:solidFill>
                <a:srgbClr val="98A2B8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88920" y="2578608"/>
            <a:ext cx="626364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撤销 / 重置 —— ✅ 提前完成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通关计时 —— 未做</a:t>
            </a:r>
            <a:endParaRPr sz="1150" b="0">
              <a:solidFill>
                <a:srgbClr val="EBEEF5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简单音效 —— 未做</a:t>
            </a:r>
            <a:endParaRPr sz="1150" b="0">
              <a:solidFill>
                <a:srgbClr val="EBEEF5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52560" y="2578608"/>
            <a:ext cx="265176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6CC77A"/>
                </a:solidFill>
                <a:latin typeface="微软雅黑"/>
              </a:rPr>
              <a:t>✅ 1 / 3</a:t>
            </a:r>
            <a:endParaRPr sz="125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" y="3511296"/>
            <a:ext cx="228600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37160" bIns="18288" rtlCol="0" anchor="ctr"/>
          <a:lstStyle/>
          <a:p>
            <a:pPr algn="l"/>
            <a:r>
              <a:rPr sz="1600" b="1">
                <a:solidFill>
                  <a:srgbClr val="EBEEF5"/>
                </a:solidFill>
                <a:latin typeface="微软雅黑"/>
              </a:rPr>
              <a:t>超出开题预期</a:t>
            </a:r>
            <a:endParaRPr sz="1300" b="1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/>
            <a:r>
              <a:rPr sz="1050" b="0">
                <a:solidFill>
                  <a:srgbClr val="98A2B8"/>
                </a:solidFill>
                <a:latin typeface="微软雅黑"/>
              </a:rPr>
              <a:t>6 项</a:t>
            </a:r>
            <a:endParaRPr sz="1100" b="0">
              <a:solidFill>
                <a:srgbClr val="98A2B8"/>
              </a:solidFill>
              <a:latin typeface="微软雅黑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788920" y="3511296"/>
            <a:ext cx="626364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嵌套不限层数 + 自引用校验 / 双向穿口与吞食</a:t>
            </a:r>
            <a:endParaRPr sz="115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双条件判定点（箱子 g + 玩家 G）</a:t>
            </a:r>
            <a:endParaRPr sz="1150" b="0">
              <a:solidFill>
                <a:srgbClr val="EBEEF5"/>
              </a:solidFill>
              <a:latin typeface="微软雅黑"/>
            </a:endParaRP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EBEEF5"/>
                </a:solidFill>
                <a:latin typeface="微软雅黑"/>
              </a:rPr>
              <a:t>▪ BFS 解算器 + 108 个自动化测试</a:t>
            </a:r>
            <a:endParaRPr sz="1150" b="0">
              <a:solidFill>
                <a:srgbClr val="EBEEF5"/>
              </a:solidFill>
              <a:latin typeface="微软雅黑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052560" y="3511296"/>
            <a:ext cx="2651760" cy="868680"/>
          </a:xfrm>
          <a:prstGeom prst="rect">
            <a:avLst/>
          </a:prstGeom>
          <a:solidFill>
            <a:srgbClr val="1C2132"/>
          </a:solidFill>
          <a:ln w="9525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400" b="1">
                <a:solidFill>
                  <a:srgbClr val="6CC77A"/>
                </a:solidFill>
                <a:latin typeface="微软雅黑"/>
              </a:rPr>
              <a:t>⭐ 加分</a:t>
            </a:r>
            <a:endParaRPr sz="1250" b="1">
              <a:solidFill>
                <a:srgbClr val="6CC77A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人员分工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《递归之箱》结课汇报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9 / 10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577840" cy="2590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单人项目：完成人 董长坤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需求调研、机制设计、编码、测试、文档、演示全部独立完成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两周内交付 2 个关卡 + 7 个模块 + 108 个测试 + 4 份机制文档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精力分配：机制与文档约 40%，实现约 35%，测试与验证约 25%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AI 辅助的边界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用法：代码生成、文档校对、解算器原型、关卡数据转换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边界：机制不得自行扩展（RULE.md §二），取舍与验收由本人负责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所有改动都有测试与 git 记录，可追溯、可回退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234440"/>
            <a:ext cx="5257800" cy="333756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8988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EEF5"/>
                </a:solidFill>
                <a:latin typeface="微软雅黑"/>
                <a:ea typeface="微软雅黑"/>
              </a:rPr>
              <a:t>怎么保证质量</a:t>
            </a:r>
            <a:endParaRPr sz="15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微软雅黑"/>
                <a:ea typeface="微软雅黑"/>
              </a:rPr>
              <a:t>规则先行　</a:t>
            </a:r>
            <a:r>
              <a:rPr lang="zh-CN" sz="1300" b="1">
                <a:solidFill>
                  <a:srgbClr val="F5A623"/>
                </a:solidFill>
                <a:latin typeface="微软雅黑"/>
                <a:ea typeface="微软雅黑"/>
              </a:rPr>
              <a:t>机制先写进 SKILL.md，再写代码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23957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9CD6"/>
                </a:solidFill>
                <a:latin typeface="微软雅黑"/>
                <a:ea typeface="微软雅黑"/>
              </a:rPr>
              <a:t>测试兜底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改完必跑测试；文档与实现由测试校验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7548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关键词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独立完成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18704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AI 辅助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62288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人工验收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405872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zh-CN" sz="1100" b="0">
                <a:solidFill>
                  <a:srgbClr val="EBEEF5"/>
                </a:solidFill>
                <a:latin typeface="微软雅黑"/>
                <a:ea typeface="微软雅黑"/>
              </a:rPr>
              <a:t>可追溯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BEEF5"/>
                </a:solidFill>
                <a:latin typeface="微软雅黑"/>
                <a:ea typeface="微软雅黑"/>
              </a:rPr>
              <a:t>演示环节与总结</a:t>
            </a:r>
            <a:endParaRPr sz="26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21207" y="950976"/>
            <a:ext cx="8229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董长坤 · 《递归之箱》结课汇报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822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>
                <a:solidFill>
                  <a:srgbClr val="98A2B8"/>
                </a:solidFill>
                <a:latin typeface="微软雅黑"/>
                <a:ea typeface="微软雅黑"/>
              </a:rPr>
              <a:t>10 / 10</a:t>
            </a:r>
            <a:endParaRPr sz="900" b="0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5577840" cy="2590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现场演示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启动：python main.py → 选关界面（两关）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「测试」5 步：推箱 → 从口钻进箱子 → 在内层推箱通关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「吞食01」37 步：把箱子推进 A 的口，再进 A 把它推出来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600" b="1">
                <a:solidFill>
                  <a:srgbClr val="F5A623"/>
                </a:solidFill>
                <a:latin typeface="微软雅黑"/>
                <a:ea typeface="微软雅黑"/>
              </a:rPr>
              <a:t>看点</a:t>
            </a:r>
            <a:endParaRPr sz="1600" b="1">
              <a:solidFill>
                <a:srgbClr val="F5A623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进箱子后整片地面变深黄，一眼知道自己在哪一层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方块压在判定点上描边发亮；玩家站上 G 时外圈亮环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▪  若现场不便演示，播放 3 分钟录屏视频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46520" y="1234440"/>
            <a:ext cx="5257800" cy="3337560"/>
          </a:xfrm>
          <a:prstGeom prst="rect">
            <a:avLst/>
          </a:prstGeom>
          <a:solidFill>
            <a:srgbClr val="1C2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389888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EBEEF5"/>
                </a:solidFill>
                <a:latin typeface="微软雅黑"/>
                <a:ea typeface="微软雅黑"/>
              </a:rPr>
              <a:t>已知限制与后续</a:t>
            </a:r>
            <a:endParaRPr sz="1500" b="1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0" y="1874519"/>
            <a:ext cx="484632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5A623"/>
                </a:solidFill>
                <a:latin typeface="微软雅黑"/>
                <a:ea typeface="微软雅黑"/>
              </a:rPr>
              <a:t>暂未实现　</a:t>
            </a:r>
            <a:r>
              <a:rPr lang="zh-CN" sz="1300" b="1">
                <a:solidFill>
                  <a:srgbClr val="F5A623"/>
                </a:solidFill>
                <a:latin typeface="微软雅黑"/>
                <a:ea typeface="微软雅黑"/>
              </a:rPr>
              <a:t>音效、通关计时、死局提示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5120" y="2395728"/>
            <a:ext cx="48463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569CD6"/>
                </a:solidFill>
                <a:latin typeface="微软雅黑"/>
                <a:ea typeface="微软雅黑"/>
              </a:rPr>
              <a:t>后续方向　</a:t>
            </a:r>
            <a:r>
              <a:rPr sz="1300" b="0">
                <a:solidFill>
                  <a:srgbClr val="EBEEF5"/>
                </a:solidFill>
                <a:latin typeface="微软雅黑"/>
                <a:ea typeface="微软雅黑"/>
              </a:rPr>
              <a:t>解算器工具化、动画补间、更多关卡</a:t>
            </a:r>
            <a:endParaRPr sz="13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0" y="2926080"/>
            <a:ext cx="475488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8A2B8"/>
                </a:solidFill>
                <a:latin typeface="微软雅黑"/>
                <a:ea typeface="微软雅黑"/>
              </a:rPr>
              <a:t>关键词</a:t>
            </a:r>
            <a:endParaRPr sz="1200" b="1">
              <a:solidFill>
                <a:srgbClr val="98A2B8"/>
              </a:solidFill>
              <a:latin typeface="微软雅黑"/>
              <a:ea typeface="微软雅黑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675120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现场演示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918704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录屏备份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62288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sz="1100" b="0">
                <a:solidFill>
                  <a:srgbClr val="EBEEF5"/>
                </a:solidFill>
                <a:latin typeface="微软雅黑"/>
                <a:ea typeface="微软雅黑"/>
              </a:rPr>
              <a:t>纯色美术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0405872" y="3310128"/>
            <a:ext cx="1133856" cy="457200"/>
          </a:xfrm>
          <a:prstGeom prst="roundRect">
            <a:avLst/>
          </a:prstGeom>
          <a:solidFill>
            <a:srgbClr val="262C42"/>
          </a:solidFill>
          <a:ln w="12700">
            <a:solidFill>
              <a:srgbClr val="3E4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18288" rIns="73152" bIns="18288" rtlCol="0" anchor="ctr"/>
          <a:lstStyle/>
          <a:p>
            <a:pPr algn="ctr"/>
            <a:r>
              <a:rPr lang="zh-CN" sz="1100" b="0">
                <a:solidFill>
                  <a:srgbClr val="EBEEF5"/>
                </a:solidFill>
                <a:latin typeface="微软雅黑"/>
                <a:ea typeface="微软雅黑"/>
              </a:rPr>
              <a:t>可扩展</a:t>
            </a:r>
            <a:endParaRPr sz="1100" b="0">
              <a:solidFill>
                <a:srgbClr val="EBEEF5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1017</Words>
  <Application>WPS 文字</Application>
  <PresentationFormat>On-screen Show (4:3)</PresentationFormat>
  <Paragraphs>178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Arial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微软雅黑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董长坤</cp:lastModifiedBy>
  <cp:revision>5</cp:revision>
  <dcterms:created xsi:type="dcterms:W3CDTF">2026-09-09T09:30:56Z</dcterms:created>
  <dcterms:modified xsi:type="dcterms:W3CDTF">2026-09-09T09:30:56Z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ECDB9A1BAA95B1C1271BA16AB09BFE72_42</vt:lpwstr>
  </property>
  <property fmtid="{D5CDD505-2E9C-101B-9397-08002B2CF9AE}" pid="3" name="KSOProductBuildVer">
    <vt:lpwstr>2052-12.1.23540.23540</vt:lpwstr>
  </property>
</Properties>
</file>