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ableStyles" Target="tableStyles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7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7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7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7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313224" y="1737360"/>
            <a:ext cx="3566160" cy="3566160"/>
          </a:xfrm>
          <a:prstGeom prst="rect">
            <a:avLst/>
          </a:prstGeom>
          <a:noFill/>
          <a:ln w="317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930444" y="2354580"/>
            <a:ext cx="2331720" cy="2331720"/>
          </a:xfrm>
          <a:prstGeom prst="rect">
            <a:avLst/>
          </a:prstGeom>
          <a:noFill/>
          <a:ln w="31750">
            <a:solidFill>
              <a:srgbClr val="569C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501944" y="2926080"/>
            <a:ext cx="1188720" cy="1188720"/>
          </a:xfrm>
          <a:prstGeom prst="rect">
            <a:avLst/>
          </a:prstGeom>
          <a:noFill/>
          <a:ln w="31750">
            <a:solidFill>
              <a:srgbClr val="6CC7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422952" y="1810512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5A623"/>
                </a:solidFill>
                <a:latin typeface="微软雅黑"/>
                <a:ea typeface="微软雅黑"/>
              </a:rPr>
              <a:t>外层世界</a:t>
            </a:r>
            <a:endParaRPr sz="1100" b="1">
              <a:solidFill>
                <a:srgbClr val="F5A623"/>
              </a:solidFill>
              <a:latin typeface="微软雅黑"/>
              <a:ea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40172" y="242773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569CD6"/>
                </a:solidFill>
                <a:latin typeface="微软雅黑"/>
                <a:ea typeface="微软雅黑"/>
              </a:rPr>
              <a:t>箱子</a:t>
            </a:r>
            <a:endParaRPr sz="1100" b="1">
              <a:solidFill>
                <a:srgbClr val="569CD6"/>
              </a:solidFill>
              <a:latin typeface="微软雅黑"/>
              <a:ea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575096" y="2971800"/>
            <a:ext cx="1097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6CC77A"/>
                </a:solidFill>
                <a:latin typeface="微软雅黑"/>
                <a:ea typeface="微软雅黑"/>
              </a:rPr>
              <a:t>内层世界</a:t>
            </a:r>
            <a:endParaRPr sz="1000" b="1">
              <a:solidFill>
                <a:srgbClr val="6CC77A"/>
              </a:solidFill>
              <a:latin typeface="微软雅黑"/>
              <a:ea typeface="微软雅黑"/>
            </a:endParaRPr>
          </a:p>
        </p:txBody>
      </p:sp>
      <p:sp>
        <p:nvSpPr>
          <p:cNvPr id="8" name="Oval 7"/>
          <p:cNvSpPr/>
          <p:nvPr/>
        </p:nvSpPr>
        <p:spPr>
          <a:xfrm>
            <a:off x="5950000" y="3502152"/>
            <a:ext cx="292608" cy="292608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685800"/>
            <a:ext cx="9445752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600" b="1">
                <a:solidFill>
                  <a:srgbClr val="EBEEF5"/>
                </a:solidFill>
                <a:latin typeface="微软雅黑"/>
                <a:ea typeface="微软雅黑"/>
              </a:rPr>
              <a:t>递归之箱</a:t>
            </a:r>
            <a:endParaRPr sz="4600" b="1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371600" y="1481328"/>
            <a:ext cx="944575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98A2B8"/>
                </a:solidFill>
                <a:latin typeface="微软雅黑"/>
                <a:ea typeface="微软雅黑"/>
              </a:rPr>
              <a:t>Patrick's Parabox 关卡复刻 · Python 游戏开发实践</a:t>
            </a:r>
            <a:endParaRPr sz="1600" b="0">
              <a:solidFill>
                <a:srgbClr val="98A2B8"/>
              </a:solidFill>
              <a:latin typeface="微软雅黑"/>
              <a:ea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371600" y="5532120"/>
            <a:ext cx="944575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EBEEF5"/>
                </a:solidFill>
                <a:latin typeface="微软雅黑"/>
                <a:ea typeface="微软雅黑"/>
              </a:rPr>
              <a:t>软件工程设计课程 · 结课汇报</a:t>
            </a:r>
            <a:endParaRPr sz="140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371600" y="5989320"/>
            <a:ext cx="944575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98A2B8"/>
                </a:solidFill>
                <a:latin typeface="微软雅黑"/>
                <a:ea typeface="微软雅黑"/>
              </a:rPr>
              <a:t>完成人：董长坤　　2026 年 9 月 17 日</a:t>
            </a:r>
            <a:endParaRPr sz="1300" b="0">
              <a:solidFill>
                <a:srgbClr val="98A2B8"/>
              </a:solidFill>
              <a:latin typeface="微软雅黑"/>
              <a:ea typeface="微软雅黑"/>
            </a:endParaRPr>
          </a:p>
        </p:txBody>
      </p:sp>
      <p:pic>
        <p:nvPicPr>
          <p:cNvPr id="13" name="Picture 12" descr="patricks_parabox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5400" y="475488"/>
            <a:ext cx="2788920" cy="111556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BEEF5"/>
                </a:solidFill>
                <a:latin typeface="微软雅黑"/>
                <a:ea typeface="微软雅黑"/>
              </a:rPr>
              <a:t>项目介绍</a:t>
            </a:r>
            <a:endParaRPr sz="2600" b="1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21207" y="950976"/>
            <a:ext cx="822960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98A2B8"/>
                </a:solidFill>
                <a:latin typeface="微软雅黑"/>
                <a:ea typeface="微软雅黑"/>
              </a:rPr>
              <a:t>董长坤 · 《递归之箱》结课汇报</a:t>
            </a:r>
            <a:endParaRPr sz="900" b="0">
              <a:solidFill>
                <a:srgbClr val="98A2B8"/>
              </a:solidFill>
              <a:latin typeface="微软雅黑"/>
              <a:ea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247120" y="6473952"/>
            <a:ext cx="822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98A2B8"/>
                </a:solidFill>
                <a:latin typeface="微软雅黑"/>
                <a:ea typeface="微软雅黑"/>
              </a:rPr>
              <a:t>2 / 13</a:t>
            </a:r>
            <a:endParaRPr sz="900" b="0">
              <a:solidFill>
                <a:srgbClr val="98A2B8"/>
              </a:solidFill>
              <a:latin typeface="微软雅黑"/>
              <a:ea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5577840" cy="2590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350" b="1">
                <a:solidFill>
                  <a:srgbClr val="F5A623"/>
                </a:solidFill>
                <a:latin typeface="微软雅黑"/>
                <a:ea typeface="微软雅黑"/>
              </a:rPr>
              <a:t>这是什么</a:t>
            </a:r>
            <a:endParaRPr sz="1600" b="1">
              <a:solidFill>
                <a:srgbClr val="F5A623"/>
              </a:solidFill>
              <a:latin typeface="微软雅黑"/>
              <a:ea typeface="微软雅黑"/>
            </a:endParaRPr>
          </a:p>
          <a:p>
            <a:pPr algn="l">
              <a:spcAft>
                <a:spcPts val="1000"/>
              </a:spcAft>
            </a:pPr>
            <a:r>
              <a:rPr sz="1250" b="0">
                <a:solidFill>
                  <a:srgbClr val="EBEEF5"/>
                </a:solidFill>
                <a:latin typeface="微软雅黑"/>
                <a:ea typeface="微软雅黑"/>
              </a:rPr>
              <a:t>▪  用 Python + Pygame 复刻《Patrick's Parabox》的完整玩法</a:t>
            </a:r>
            <a:endParaRPr sz="1300" b="0">
              <a:solidFill>
                <a:srgbClr val="EBEEF5"/>
              </a:solidFill>
              <a:latin typeface="微软雅黑"/>
              <a:ea typeface="微软雅黑"/>
            </a:endParaRPr>
          </a:p>
          <a:p>
            <a:pPr algn="l">
              <a:spcAft>
                <a:spcPts val="1000"/>
              </a:spcAft>
            </a:pPr>
            <a:r>
              <a:rPr sz="1250" b="0">
                <a:solidFill>
                  <a:srgbClr val="EBEEF5"/>
                </a:solidFill>
                <a:latin typeface="微软雅黑"/>
                <a:ea typeface="微软雅黑"/>
              </a:rPr>
              <a:t>▪  推箱子 + 箱子内部是另一个可以走进去的世界</a:t>
            </a:r>
            <a:endParaRPr sz="1300" b="0">
              <a:solidFill>
                <a:srgbClr val="EBEEF5"/>
              </a:solidFill>
              <a:latin typeface="微软雅黑"/>
              <a:ea typeface="微软雅黑"/>
            </a:endParaRPr>
          </a:p>
          <a:p>
            <a:pPr algn="l">
              <a:spcAft>
                <a:spcPts val="1000"/>
              </a:spcAft>
            </a:pPr>
            <a:r>
              <a:rPr sz="1250" b="0">
                <a:solidFill>
                  <a:srgbClr val="EBEEF5"/>
                </a:solidFill>
                <a:latin typeface="微软雅黑"/>
                <a:ea typeface="微软雅黑"/>
              </a:rPr>
              <a:t>▪  箱子之间能互相进出：吞食、双向穿口、跨层搬运</a:t>
            </a:r>
            <a:endParaRPr sz="1300" b="0">
              <a:solidFill>
                <a:srgbClr val="EBEEF5"/>
              </a:solidFill>
              <a:latin typeface="微软雅黑"/>
              <a:ea typeface="微软雅黑"/>
            </a:endParaRPr>
          </a:p>
          <a:p>
            <a:pPr algn="l">
              <a:spcAft>
                <a:spcPts val="1000"/>
              </a:spcAft>
            </a:pPr>
            <a:r>
              <a:rPr sz="1350" b="1">
                <a:solidFill>
                  <a:srgbClr val="F5A623"/>
                </a:solidFill>
                <a:latin typeface="微软雅黑"/>
                <a:ea typeface="微软雅黑"/>
              </a:rPr>
              <a:t>规模与产出</a:t>
            </a:r>
            <a:endParaRPr sz="1600" b="1">
              <a:solidFill>
                <a:srgbClr val="F5A623"/>
              </a:solidFill>
              <a:latin typeface="微软雅黑"/>
              <a:ea typeface="微软雅黑"/>
            </a:endParaRPr>
          </a:p>
          <a:p>
            <a:pPr algn="l">
              <a:spcAft>
                <a:spcPts val="1000"/>
              </a:spcAft>
            </a:pPr>
            <a:r>
              <a:rPr sz="1250" b="0">
                <a:solidFill>
                  <a:srgbClr val="EBEEF5"/>
                </a:solidFill>
                <a:latin typeface="微软雅黑"/>
                <a:ea typeface="微软雅黑"/>
              </a:rPr>
              <a:t>▪  2 个关卡（「测试」5 步通关 /「吞食01」37 步通关）</a:t>
            </a:r>
            <a:endParaRPr sz="1300" b="0">
              <a:solidFill>
                <a:srgbClr val="EBEEF5"/>
              </a:solidFill>
              <a:latin typeface="微软雅黑"/>
              <a:ea typeface="微软雅黑"/>
            </a:endParaRPr>
          </a:p>
          <a:p>
            <a:pPr algn="l">
              <a:spcAft>
                <a:spcPts val="1000"/>
              </a:spcAft>
            </a:pPr>
            <a:r>
              <a:rPr sz="1250" b="0">
                <a:solidFill>
                  <a:srgbClr val="EBEEF5"/>
                </a:solidFill>
                <a:latin typeface="微软雅黑"/>
                <a:ea typeface="微软雅黑"/>
              </a:rPr>
              <a:t>▪  7 个源码模块 1326 行 + 108 个自动化测试 1043 行</a:t>
            </a:r>
            <a:endParaRPr sz="1300" b="0">
              <a:solidFill>
                <a:srgbClr val="EBEEF5"/>
              </a:solidFill>
              <a:latin typeface="微软雅黑"/>
              <a:ea typeface="微软雅黑"/>
            </a:endParaRPr>
          </a:p>
          <a:p>
            <a:pPr algn="l">
              <a:spcAft>
                <a:spcPts val="1000"/>
              </a:spcAft>
            </a:pPr>
            <a:r>
              <a:rPr sz="1350" b="1">
                <a:solidFill>
                  <a:srgbClr val="F5A623"/>
                </a:solidFill>
                <a:latin typeface="微软雅黑"/>
                <a:ea typeface="微软雅黑"/>
              </a:rPr>
              <a:t>本汇报重点</a:t>
            </a:r>
            <a:endParaRPr sz="1300" b="0">
              <a:solidFill>
                <a:srgbClr val="EBEEF5"/>
              </a:solidFill>
              <a:latin typeface="微软雅黑"/>
              <a:ea typeface="微软雅黑"/>
            </a:endParaRPr>
          </a:p>
          <a:p>
            <a:pPr algn="l">
              <a:spcAft>
                <a:spcPts val="1000"/>
              </a:spcAft>
            </a:pPr>
            <a:r>
              <a:rPr sz="1250" b="0">
                <a:solidFill>
                  <a:srgbClr val="EBEEF5"/>
                </a:solidFill>
                <a:latin typeface="微软雅黑"/>
                <a:ea typeface="微软雅黑"/>
              </a:rPr>
              <a:t>▪  AI 怎么被约束着用（第 4–5 页）+ 问题怎么定位与解决（第 6–9 页）</a:t>
            </a:r>
            <a:endParaRPr sz="130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446520" y="1234440"/>
            <a:ext cx="5257800" cy="3337560"/>
          </a:xfrm>
          <a:prstGeom prst="rect">
            <a:avLst/>
          </a:prstGeom>
          <a:solidFill>
            <a:srgbClr val="1C2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389888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BEEF5"/>
                </a:solidFill>
                <a:latin typeface="微软雅黑"/>
                <a:ea typeface="微软雅黑"/>
              </a:rPr>
              <a:t>核心机制</a:t>
            </a:r>
            <a:endParaRPr sz="1500" b="1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675120" y="1874519"/>
            <a:ext cx="4846320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5A623"/>
                </a:solidFill>
                <a:latin typeface="微软雅黑"/>
                <a:ea typeface="微软雅黑"/>
              </a:rPr>
              <a:t>推箱与链推动　</a:t>
            </a:r>
            <a:r>
              <a:rPr lang="zh-CN" sz="1300" b="1">
                <a:solidFill>
                  <a:srgbClr val="F5A623"/>
                </a:solidFill>
                <a:latin typeface="微软雅黑"/>
                <a:ea typeface="微软雅黑"/>
              </a:rPr>
              <a:t>整条链同时移动一格，链尾受阻则全链不动</a:t>
            </a:r>
            <a:endParaRPr sz="130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675120" y="2395728"/>
            <a:ext cx="48463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69CD6"/>
                </a:solidFill>
                <a:latin typeface="微软雅黑"/>
                <a:ea typeface="微软雅黑"/>
              </a:rPr>
              <a:t>双向穿口　</a:t>
            </a:r>
            <a:r>
              <a:rPr sz="1300" b="0">
                <a:solidFill>
                  <a:srgbClr val="EBEEF5"/>
                </a:solidFill>
                <a:latin typeface="微软雅黑"/>
                <a:ea typeface="微软雅黑"/>
              </a:rPr>
              <a:t>箱子能被推进别人的口，也能从内部被推出来</a:t>
            </a:r>
            <a:endParaRPr sz="130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675120" y="2926080"/>
            <a:ext cx="4754880" cy="18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98A2B8"/>
                </a:solidFill>
                <a:latin typeface="微软雅黑"/>
                <a:ea typeface="微软雅黑"/>
              </a:rPr>
              <a:t>关键词</a:t>
            </a:r>
            <a:endParaRPr sz="1200" b="1">
              <a:solidFill>
                <a:srgbClr val="98A2B8"/>
              </a:solidFill>
              <a:latin typeface="微软雅黑"/>
              <a:ea typeface="微软雅黑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675120" y="3310128"/>
            <a:ext cx="1133856" cy="457200"/>
          </a:xfrm>
          <a:prstGeom prst="roundRect">
            <a:avLst/>
          </a:prstGeom>
          <a:solidFill>
            <a:srgbClr val="262C42"/>
          </a:solidFill>
          <a:ln w="12700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8288" rIns="73152" bIns="18288" rtlCol="0" anchor="ctr"/>
          <a:lstStyle/>
          <a:p>
            <a:pPr algn="ctr"/>
            <a:r>
              <a:rPr sz="1100" b="0">
                <a:solidFill>
                  <a:srgbClr val="EBEEF5"/>
                </a:solidFill>
                <a:latin typeface="微软雅黑"/>
                <a:ea typeface="微软雅黑"/>
              </a:rPr>
              <a:t>嵌套世界</a:t>
            </a:r>
            <a:endParaRPr sz="110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7918704" y="3310128"/>
            <a:ext cx="1133856" cy="457200"/>
          </a:xfrm>
          <a:prstGeom prst="roundRect">
            <a:avLst/>
          </a:prstGeom>
          <a:solidFill>
            <a:srgbClr val="262C42"/>
          </a:solidFill>
          <a:ln w="12700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8288" rIns="73152" bIns="18288" rtlCol="0" anchor="ctr"/>
          <a:lstStyle/>
          <a:p>
            <a:pPr algn="ctr"/>
            <a:r>
              <a:rPr sz="1100" b="0">
                <a:solidFill>
                  <a:srgbClr val="EBEEF5"/>
                </a:solidFill>
                <a:latin typeface="微软雅黑"/>
                <a:ea typeface="微软雅黑"/>
              </a:rPr>
              <a:t>吞食</a:t>
            </a:r>
            <a:endParaRPr sz="110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9162288" y="3310128"/>
            <a:ext cx="1133856" cy="457200"/>
          </a:xfrm>
          <a:prstGeom prst="roundRect">
            <a:avLst/>
          </a:prstGeom>
          <a:solidFill>
            <a:srgbClr val="262C42"/>
          </a:solidFill>
          <a:ln w="12700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8288" rIns="73152" bIns="18288" rtlCol="0" anchor="ctr"/>
          <a:lstStyle/>
          <a:p>
            <a:pPr algn="ctr"/>
            <a:r>
              <a:rPr sz="1100" b="0">
                <a:solidFill>
                  <a:srgbClr val="EBEEF5"/>
                </a:solidFill>
                <a:latin typeface="微软雅黑"/>
                <a:ea typeface="微软雅黑"/>
              </a:rPr>
              <a:t>跨层冻结</a:t>
            </a:r>
            <a:endParaRPr sz="110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10405872" y="3310128"/>
            <a:ext cx="1133856" cy="457200"/>
          </a:xfrm>
          <a:prstGeom prst="roundRect">
            <a:avLst/>
          </a:prstGeom>
          <a:solidFill>
            <a:srgbClr val="262C42"/>
          </a:solidFill>
          <a:ln w="12700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8288" rIns="73152" bIns="18288" rtlCol="0" anchor="ctr"/>
          <a:lstStyle/>
          <a:p>
            <a:pPr algn="ctr"/>
            <a:r>
              <a:rPr lang="zh-CN" sz="1100" b="0">
                <a:solidFill>
                  <a:srgbClr val="EBEEF5"/>
                </a:solidFill>
                <a:latin typeface="微软雅黑"/>
                <a:ea typeface="微软雅黑"/>
              </a:rPr>
              <a:t>双条件判定</a:t>
            </a:r>
            <a:endParaRPr sz="110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pic>
        <p:nvPicPr>
          <p:cNvPr id="16" name="Picture 15" descr="art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681728"/>
            <a:ext cx="2761488" cy="155333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401568" y="4800600"/>
            <a:ext cx="827532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F5A623"/>
                </a:solidFill>
                <a:latin typeface="微软雅黑"/>
                <a:ea typeface="微软雅黑"/>
              </a:rPr>
              <a:t>美术：纯色平涂（无贴图、无渐变）</a:t>
            </a:r>
            <a:endParaRPr sz="1200" b="1">
              <a:solidFill>
                <a:srgbClr val="98A2B8"/>
              </a:solidFill>
              <a:latin typeface="微软雅黑"/>
              <a:ea typeface="微软雅黑"/>
            </a:endParaRPr>
          </a:p>
          <a:p>
            <a:pPr algn="l">
              <a:spcAft>
                <a:spcPts val="600"/>
              </a:spcAft>
            </a:pPr>
            <a:r>
              <a:rPr sz="1150" b="1">
                <a:solidFill>
                  <a:srgbClr val="98A2B8"/>
                </a:solidFill>
                <a:latin typeface="微软雅黑"/>
                <a:ea typeface="微软雅黑"/>
              </a:rPr>
              <a:t>墙淡灰 / 外层空地深灰 / 内部空间深黄</a:t>
            </a:r>
            <a:endParaRPr sz="1200" b="1">
              <a:solidFill>
                <a:srgbClr val="98A2B8"/>
              </a:solidFill>
              <a:latin typeface="微软雅黑"/>
              <a:ea typeface="微软雅黑"/>
            </a:endParaRPr>
          </a:p>
          <a:p>
            <a:pPr algn="l">
              <a:spcAft>
                <a:spcPts val="600"/>
              </a:spcAft>
            </a:pPr>
            <a:r>
              <a:rPr sz="1150" b="1">
                <a:solidFill>
                  <a:srgbClr val="98A2B8"/>
                </a:solidFill>
                <a:latin typeface="微软雅黑"/>
                <a:ea typeface="微软雅黑"/>
              </a:rPr>
              <a:t>玩家洋红 · 含内部空间的方块黄 · 普通方块蓝；判定点达成时描边发亮</a:t>
            </a:r>
            <a:endParaRPr sz="1200" b="1">
              <a:solidFill>
                <a:srgbClr val="98A2B8"/>
              </a:solidFill>
              <a:latin typeface="微软雅黑"/>
              <a:ea typeface="微软雅黑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BEEF5"/>
                </a:solidFill>
                <a:latin typeface="微软雅黑"/>
                <a:ea typeface="微软雅黑"/>
              </a:rPr>
              <a:t>软件架构设计</a:t>
            </a:r>
            <a:endParaRPr sz="2600" b="1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21207" y="950976"/>
            <a:ext cx="822960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98A2B8"/>
                </a:solidFill>
                <a:latin typeface="微软雅黑"/>
                <a:ea typeface="微软雅黑"/>
              </a:rPr>
              <a:t>董长坤 · 《递归之箱》结课汇报</a:t>
            </a:r>
            <a:endParaRPr sz="900" b="0">
              <a:solidFill>
                <a:srgbClr val="98A2B8"/>
              </a:solidFill>
              <a:latin typeface="微软雅黑"/>
              <a:ea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247120" y="6473952"/>
            <a:ext cx="822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98A2B8"/>
                </a:solidFill>
                <a:latin typeface="微软雅黑"/>
                <a:ea typeface="微软雅黑"/>
              </a:rPr>
              <a:t>3 / 13</a:t>
            </a:r>
            <a:endParaRPr sz="900" b="0">
              <a:solidFill>
                <a:srgbClr val="98A2B8"/>
              </a:solidFill>
              <a:latin typeface="微软雅黑"/>
              <a:ea typeface="微软雅黑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02920" y="1188720"/>
            <a:ext cx="4846320" cy="3200400"/>
          </a:xfrm>
          <a:prstGeom prst="rect">
            <a:avLst/>
          </a:prstGeom>
          <a:solidFill>
            <a:srgbClr val="1C2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35024"/>
            <a:ext cx="4480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BEEF5"/>
                </a:solidFill>
                <a:latin typeface="微软雅黑"/>
                <a:ea typeface="微软雅黑"/>
              </a:rPr>
              <a:t>三层结构 · 依赖方向单向</a:t>
            </a:r>
            <a:endParaRPr sz="1400" b="1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1828800" y="1783080"/>
            <a:ext cx="2194560" cy="2194560"/>
          </a:xfrm>
          <a:prstGeom prst="rect">
            <a:avLst/>
          </a:prstGeom>
          <a:noFill/>
          <a:ln w="285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17420" y="2171700"/>
            <a:ext cx="1417320" cy="1417320"/>
          </a:xfrm>
          <a:prstGeom prst="rect">
            <a:avLst/>
          </a:prstGeom>
          <a:noFill/>
          <a:ln w="28575">
            <a:solidFill>
              <a:srgbClr val="569C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60320" y="2514600"/>
            <a:ext cx="731520" cy="731520"/>
          </a:xfrm>
          <a:prstGeom prst="rect">
            <a:avLst/>
          </a:prstGeom>
          <a:noFill/>
          <a:ln w="28575">
            <a:solidFill>
              <a:srgbClr val="6CC7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20240" y="1837943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F5A623"/>
                </a:solidFill>
                <a:latin typeface="微软雅黑"/>
                <a:ea typeface="微软雅黑"/>
              </a:rPr>
              <a:t>驱动层 · 游戏循环</a:t>
            </a:r>
            <a:endParaRPr sz="1000" b="1">
              <a:solidFill>
                <a:srgbClr val="F5A623"/>
              </a:solidFill>
              <a:latin typeface="微软雅黑"/>
              <a:ea typeface="微软雅黑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308860" y="2226564"/>
            <a:ext cx="1097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569CD6"/>
                </a:solidFill>
                <a:latin typeface="微软雅黑"/>
                <a:ea typeface="微软雅黑"/>
              </a:rPr>
              <a:t>表现层 · 绘制 / 选关</a:t>
            </a:r>
            <a:endParaRPr sz="1000" b="1">
              <a:solidFill>
                <a:srgbClr val="569CD6"/>
              </a:solidFill>
              <a:latin typeface="微软雅黑"/>
              <a:ea typeface="微软雅黑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615184" y="2551176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>
                <a:solidFill>
                  <a:srgbClr val="6CC77A"/>
                </a:solidFill>
                <a:latin typeface="微软雅黑"/>
                <a:ea typeface="微软雅黑"/>
              </a:rPr>
              <a:t>逻辑层</a:t>
            </a:r>
            <a:endParaRPr sz="900" b="1">
              <a:solidFill>
                <a:srgbClr val="6CC77A"/>
              </a:solidFill>
              <a:latin typeface="微软雅黑"/>
              <a:ea typeface="微软雅黑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2798064" y="2880360"/>
            <a:ext cx="256032" cy="256032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041648"/>
            <a:ext cx="44805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98A2B8"/>
                </a:solidFill>
                <a:latin typeface="微软雅黑"/>
                <a:ea typeface="微软雅黑"/>
              </a:rPr>
              <a:t>依赖方向单向：驱动 → 表现 → 逻辑；纯逻辑层禁止 import pygame</a:t>
            </a:r>
            <a:endParaRPr sz="1100" b="0">
              <a:solidFill>
                <a:srgbClr val="98A2B8"/>
              </a:solidFill>
              <a:latin typeface="微软雅黑"/>
              <a:ea typeface="微软雅黑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5623560" y="1188720"/>
            <a:ext cx="6080760" cy="3200400"/>
          </a:xfrm>
          <a:prstGeom prst="rect">
            <a:avLst/>
          </a:prstGeom>
          <a:solidFill>
            <a:srgbClr val="1C2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06440" y="1335024"/>
            <a:ext cx="5669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BEEF5"/>
                </a:solidFill>
                <a:latin typeface="微软雅黑"/>
                <a:ea typeface="微软雅黑"/>
              </a:rPr>
              <a:t>模块与数据流</a:t>
            </a:r>
            <a:endParaRPr sz="1400" b="1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8503920" y="1755648"/>
            <a:ext cx="3017520" cy="457200"/>
          </a:xfrm>
          <a:prstGeom prst="roundRect">
            <a:avLst/>
          </a:prstGeom>
          <a:solidFill>
            <a:srgbClr val="262C42"/>
          </a:solidFill>
          <a:ln w="12700">
            <a:solidFill>
              <a:srgbClr val="569C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8288" rIns="73152" bIns="18288" rtlCol="0" anchor="ctr"/>
          <a:lstStyle/>
          <a:p>
            <a:pPr algn="ctr"/>
            <a:r>
              <a:rPr sz="1200" b="0">
                <a:solidFill>
                  <a:srgbClr val="EBEEF5"/>
                </a:solidFill>
                <a:latin typeface="微软雅黑"/>
                <a:ea typeface="微软雅黑"/>
              </a:rPr>
              <a:t>输入 · 键盘 → 语义动作（推 / 进 / 出 / 撤销）</a:t>
            </a:r>
            <a:endParaRPr sz="120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19" name="Down Arrow 18"/>
          <p:cNvSpPr/>
          <p:nvPr/>
        </p:nvSpPr>
        <p:spPr>
          <a:xfrm>
            <a:off x="9829800" y="2231136"/>
            <a:ext cx="274320" cy="201168"/>
          </a:xfrm>
          <a:prstGeom prst="downArrow">
            <a:avLst/>
          </a:prstGeom>
          <a:solidFill>
            <a:srgbClr val="56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852160" y="2487168"/>
            <a:ext cx="2286000" cy="868680"/>
          </a:xfrm>
          <a:prstGeom prst="roundRect">
            <a:avLst/>
          </a:prstGeom>
          <a:solidFill>
            <a:srgbClr val="262C42"/>
          </a:solidFill>
          <a:ln w="12700">
            <a:solidFill>
              <a:srgbClr val="6CC7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8288" rIns="73152" bIns="18288" rtlCol="0" anchor="ctr"/>
          <a:lstStyle/>
          <a:p>
            <a:pPr algn="ctr"/>
            <a:r>
              <a:rPr sz="1200" b="1">
                <a:solidFill>
                  <a:srgbClr val="EBEEF5"/>
                </a:solidFill>
                <a:latin typeface="微软雅黑"/>
                <a:ea typeface="微软雅黑"/>
              </a:rPr>
              <a:t>逻辑层 · world.py / entity.py</a:t>
            </a:r>
            <a:endParaRPr sz="1200" b="1">
              <a:solidFill>
                <a:srgbClr val="EBEEF5"/>
              </a:solidFill>
              <a:latin typeface="微软雅黑"/>
              <a:ea typeface="微软雅黑"/>
            </a:endParaRPr>
          </a:p>
          <a:p>
            <a:pPr algn="ctr"/>
            <a:r>
              <a:rPr sz="1050" b="0">
                <a:solidFill>
                  <a:srgbClr val="98A2B8"/>
                </a:solidFill>
                <a:latin typeface="微软雅黑"/>
                <a:ea typeface="微软雅黑"/>
              </a:rPr>
              <a:t>地图 · 嵌套 dict · 口（door）</a:t>
            </a:r>
            <a:endParaRPr sz="1050" b="0">
              <a:solidFill>
                <a:srgbClr val="98A2B8"/>
              </a:solidFill>
              <a:latin typeface="微软雅黑"/>
              <a:ea typeface="微软雅黑"/>
            </a:endParaRPr>
          </a:p>
          <a:p>
            <a:pPr algn="ctr"/>
            <a:r>
              <a:rPr sz="1200" b="1">
                <a:solidFill>
                  <a:srgbClr val="EBEEF5"/>
                </a:solidFill>
                <a:latin typeface="微软雅黑"/>
                <a:ea typeface="微软雅黑"/>
              </a:rPr>
              <a:t>logic.py / nested.py</a:t>
            </a:r>
            <a:endParaRPr sz="1200" b="1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21" name="Right Arrow 20"/>
          <p:cNvSpPr/>
          <p:nvPr/>
        </p:nvSpPr>
        <p:spPr>
          <a:xfrm>
            <a:off x="8183879" y="2816352"/>
            <a:ext cx="292608" cy="228600"/>
          </a:xfrm>
          <a:prstGeom prst="rightArrow">
            <a:avLst/>
          </a:prstGeom>
          <a:solidFill>
            <a:srgbClr val="6CC7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503920" y="2487168"/>
            <a:ext cx="3017520" cy="868680"/>
          </a:xfrm>
          <a:prstGeom prst="roundRect">
            <a:avLst/>
          </a:prstGeom>
          <a:solidFill>
            <a:srgbClr val="262C42"/>
          </a:solidFill>
          <a:ln w="1270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8288" rIns="73152" bIns="18288" rtlCol="0" anchor="ctr"/>
          <a:lstStyle/>
          <a:p>
            <a:pPr algn="ctr"/>
            <a:r>
              <a:rPr sz="1250" b="1">
                <a:solidFill>
                  <a:srgbClr val="EBEEF5"/>
                </a:solidFill>
                <a:latin typeface="微软雅黑"/>
                <a:ea typeface="微软雅黑"/>
              </a:rPr>
              <a:t>表现层 · render.py / ui.py（只读状态）</a:t>
            </a:r>
            <a:endParaRPr sz="1250" b="1">
              <a:solidFill>
                <a:srgbClr val="EBEEF5"/>
              </a:solidFill>
              <a:latin typeface="微软雅黑"/>
              <a:ea typeface="微软雅黑"/>
            </a:endParaRPr>
          </a:p>
          <a:p>
            <a:pPr algn="ctr"/>
            <a:r>
              <a:rPr sz="1050" b="0">
                <a:solidFill>
                  <a:srgbClr val="98A2B8"/>
                </a:solidFill>
                <a:latin typeface="微软雅黑"/>
                <a:ea typeface="微软雅黑"/>
              </a:rPr>
              <a:t>状态：嵌套 dict，层数由数据决定</a:t>
            </a:r>
            <a:endParaRPr sz="1050" b="0">
              <a:solidFill>
                <a:srgbClr val="98A2B8"/>
              </a:solidFill>
              <a:latin typeface="微软雅黑"/>
              <a:ea typeface="微软雅黑"/>
            </a:endParaRPr>
          </a:p>
        </p:txBody>
      </p:sp>
      <p:sp>
        <p:nvSpPr>
          <p:cNvPr id="23" name="Down Arrow 22"/>
          <p:cNvSpPr/>
          <p:nvPr/>
        </p:nvSpPr>
        <p:spPr>
          <a:xfrm>
            <a:off x="9829800" y="3374136"/>
            <a:ext cx="274320" cy="201168"/>
          </a:xfrm>
          <a:prstGeom prst="downArrow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503920" y="3593592"/>
            <a:ext cx="3017520" cy="457200"/>
          </a:xfrm>
          <a:prstGeom prst="roundRect">
            <a:avLst/>
          </a:prstGeom>
          <a:solidFill>
            <a:srgbClr val="262C42"/>
          </a:solidFill>
          <a:ln w="12700">
            <a:solidFill>
              <a:srgbClr val="FF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8288" rIns="73152" bIns="18288" rtlCol="0" anchor="ctr"/>
          <a:lstStyle/>
          <a:p>
            <a:pPr algn="ctr"/>
            <a:r>
              <a:rPr sz="1200" b="0">
                <a:solidFill>
                  <a:srgbClr val="EBEEF5"/>
                </a:solidFill>
                <a:latin typeface="微软雅黑"/>
                <a:ea typeface="微软雅黑"/>
              </a:rPr>
              <a:t>只用标准库 + Pygame，不引第三方引擎</a:t>
            </a:r>
            <a:endParaRPr sz="120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02920" y="457200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BEEF5"/>
                </a:solidFill>
                <a:latin typeface="微软雅黑"/>
                <a:ea typeface="微软雅黑"/>
              </a:rPr>
              <a:t>工程质量</a:t>
            </a:r>
            <a:endParaRPr sz="1400" b="1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02920" y="4974336"/>
            <a:ext cx="685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5A623"/>
                </a:solidFill>
                <a:latin typeface="微软雅黑"/>
                <a:ea typeface="微软雅黑"/>
              </a:rPr>
              <a:t>约束</a:t>
            </a:r>
            <a:endParaRPr sz="1200" b="1">
              <a:solidFill>
                <a:srgbClr val="F5A623"/>
              </a:solidFill>
              <a:latin typeface="微软雅黑"/>
              <a:ea typeface="微软雅黑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1234440" y="4919472"/>
            <a:ext cx="1828800" cy="411480"/>
          </a:xfrm>
          <a:prstGeom prst="roundRect">
            <a:avLst/>
          </a:prstGeom>
          <a:solidFill>
            <a:srgbClr val="262C42"/>
          </a:solidFill>
          <a:ln w="1270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8288" rIns="73152" bIns="18288" rtlCol="0" anchor="ctr"/>
          <a:lstStyle/>
          <a:p>
            <a:pPr algn="ctr"/>
            <a:r>
              <a:rPr sz="1150" b="0">
                <a:solidFill>
                  <a:srgbClr val="EBEEF5"/>
                </a:solidFill>
                <a:latin typeface="微软雅黑"/>
                <a:ea typeface="微软雅黑"/>
              </a:rPr>
              <a:t>逻辑层禁 pygame</a:t>
            </a:r>
            <a:endParaRPr sz="115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3200400" y="4919472"/>
            <a:ext cx="1828800" cy="411480"/>
          </a:xfrm>
          <a:prstGeom prst="roundRect">
            <a:avLst/>
          </a:prstGeom>
          <a:solidFill>
            <a:srgbClr val="262C42"/>
          </a:solidFill>
          <a:ln w="1270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8288" rIns="73152" bIns="18288" rtlCol="0" anchor="ctr"/>
          <a:lstStyle/>
          <a:p>
            <a:pPr algn="ctr"/>
            <a:r>
              <a:rPr sz="1150" b="0">
                <a:solidFill>
                  <a:srgbClr val="EBEEF5"/>
                </a:solidFill>
                <a:latin typeface="微软雅黑"/>
                <a:ea typeface="微软雅黑"/>
              </a:rPr>
              <a:t>依赖单向</a:t>
            </a:r>
            <a:endParaRPr sz="115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5166360" y="4919472"/>
            <a:ext cx="1828800" cy="411480"/>
          </a:xfrm>
          <a:prstGeom prst="roundRect">
            <a:avLst/>
          </a:prstGeom>
          <a:solidFill>
            <a:srgbClr val="262C42"/>
          </a:solidFill>
          <a:ln w="1270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8288" rIns="73152" bIns="18288" rtlCol="0" anchor="ctr"/>
          <a:lstStyle/>
          <a:p>
            <a:pPr algn="ctr"/>
            <a:r>
              <a:rPr sz="1150" b="0">
                <a:solidFill>
                  <a:srgbClr val="EBEEF5"/>
                </a:solidFill>
                <a:latin typeface="微软雅黑"/>
                <a:ea typeface="微软雅黑"/>
              </a:rPr>
              <a:t>状态可深拷贝</a:t>
            </a:r>
            <a:endParaRPr sz="115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7132319" y="4919472"/>
            <a:ext cx="1828800" cy="411480"/>
          </a:xfrm>
          <a:prstGeom prst="roundRect">
            <a:avLst/>
          </a:prstGeom>
          <a:solidFill>
            <a:srgbClr val="262C42"/>
          </a:solidFill>
          <a:ln w="1270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8288" rIns="73152" bIns="18288" rtlCol="0" anchor="ctr"/>
          <a:lstStyle/>
          <a:p>
            <a:pPr algn="ctr"/>
            <a:r>
              <a:rPr sz="1150" b="0">
                <a:solidFill>
                  <a:srgbClr val="EBEEF5"/>
                </a:solidFill>
                <a:latin typeface="微软雅黑"/>
                <a:ea typeface="微软雅黑"/>
              </a:rPr>
              <a:t>改完必跑测试</a:t>
            </a:r>
            <a:endParaRPr sz="115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502920" y="5522976"/>
            <a:ext cx="685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569CD6"/>
                </a:solidFill>
                <a:latin typeface="微软雅黑"/>
                <a:ea typeface="微软雅黑"/>
              </a:rPr>
              <a:t>文档</a:t>
            </a:r>
            <a:endParaRPr sz="1200" b="1">
              <a:solidFill>
                <a:srgbClr val="569CD6"/>
              </a:solidFill>
              <a:latin typeface="微软雅黑"/>
              <a:ea typeface="微软雅黑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1234440" y="5468112"/>
            <a:ext cx="1463040" cy="411480"/>
          </a:xfrm>
          <a:prstGeom prst="roundRect">
            <a:avLst/>
          </a:prstGeom>
          <a:solidFill>
            <a:srgbClr val="262C42"/>
          </a:solidFill>
          <a:ln w="12700">
            <a:solidFill>
              <a:srgbClr val="569C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8288" rIns="73152" bIns="18288" rtlCol="0" anchor="ctr"/>
          <a:lstStyle/>
          <a:p>
            <a:pPr algn="ctr"/>
            <a:r>
              <a:rPr sz="1150" b="0">
                <a:solidFill>
                  <a:srgbClr val="EBEEF5"/>
                </a:solidFill>
                <a:latin typeface="微软雅黑"/>
                <a:ea typeface="微软雅黑"/>
              </a:rPr>
              <a:t>AGENTS.md</a:t>
            </a:r>
            <a:endParaRPr sz="115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2834640" y="5468112"/>
            <a:ext cx="1463040" cy="411480"/>
          </a:xfrm>
          <a:prstGeom prst="roundRect">
            <a:avLst/>
          </a:prstGeom>
          <a:solidFill>
            <a:srgbClr val="262C42"/>
          </a:solidFill>
          <a:ln w="12700">
            <a:solidFill>
              <a:srgbClr val="569C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8288" rIns="73152" bIns="18288" rtlCol="0" anchor="ctr"/>
          <a:lstStyle/>
          <a:p>
            <a:pPr algn="ctr"/>
            <a:r>
              <a:rPr sz="1150" b="0">
                <a:solidFill>
                  <a:srgbClr val="EBEEF5"/>
                </a:solidFill>
                <a:latin typeface="微软雅黑"/>
                <a:ea typeface="微软雅黑"/>
              </a:rPr>
              <a:t>RULE.md</a:t>
            </a:r>
            <a:endParaRPr sz="115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4434840" y="5468112"/>
            <a:ext cx="1463040" cy="411480"/>
          </a:xfrm>
          <a:prstGeom prst="roundRect">
            <a:avLst/>
          </a:prstGeom>
          <a:solidFill>
            <a:srgbClr val="262C42"/>
          </a:solidFill>
          <a:ln w="12700">
            <a:solidFill>
              <a:srgbClr val="569C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8288" rIns="73152" bIns="18288" rtlCol="0" anchor="ctr"/>
          <a:lstStyle/>
          <a:p>
            <a:pPr algn="ctr"/>
            <a:r>
              <a:rPr sz="1150" b="0">
                <a:solidFill>
                  <a:srgbClr val="EBEEF5"/>
                </a:solidFill>
                <a:latin typeface="微软雅黑"/>
                <a:ea typeface="微软雅黑"/>
              </a:rPr>
              <a:t>SKILL.md ×4</a:t>
            </a:r>
            <a:endParaRPr sz="115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8001000" y="5687568"/>
            <a:ext cx="3931920" cy="475488"/>
          </a:xfrm>
          <a:prstGeom prst="roundRect">
            <a:avLst>
              <a:gd name="adj" fmla="val 50000"/>
            </a:avLst>
          </a:prstGeom>
          <a:solidFill>
            <a:srgbClr val="1C2132"/>
          </a:solidFill>
          <a:ln w="12700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150" b="1" u="sng">
                <a:solidFill>
                  <a:srgbClr val="7FB2FF"/>
                </a:solidFill>
                <a:latin typeface="微软雅黑"/>
                <a:hlinkClick r:id="rId1"/>
              </a:rPr>
              <a:t>文档与实现由测试守护：色板逐值比对 + 对比度阈值 + 渲染只读断言</a:t>
            </a:r>
            <a:endParaRPr sz="1200" b="1" u="sng">
              <a:solidFill>
                <a:srgbClr val="7FB2FF"/>
              </a:solidFill>
              <a:latin typeface="微软雅黑"/>
              <a:hlinkClick r:id="rId1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BEEF5"/>
                </a:solidFill>
                <a:latin typeface="微软雅黑"/>
                <a:ea typeface="微软雅黑"/>
              </a:rPr>
              <a:t>AI 协作流程 · 规则先行，测试兜底</a:t>
            </a:r>
            <a:endParaRPr sz="2600" b="1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21207" y="950976"/>
            <a:ext cx="822960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98A2B8"/>
                </a:solidFill>
                <a:latin typeface="微软雅黑"/>
                <a:ea typeface="微软雅黑"/>
              </a:rPr>
              <a:t>董长坤 · 《递归之箱》结课汇报</a:t>
            </a:r>
            <a:endParaRPr sz="900" b="0">
              <a:solidFill>
                <a:srgbClr val="98A2B8"/>
              </a:solidFill>
              <a:latin typeface="微软雅黑"/>
              <a:ea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247120" y="6473952"/>
            <a:ext cx="822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98A2B8"/>
                </a:solidFill>
                <a:latin typeface="微软雅黑"/>
                <a:ea typeface="微软雅黑"/>
              </a:rPr>
              <a:t>4 / 13</a:t>
            </a:r>
            <a:endParaRPr sz="900" b="0">
              <a:solidFill>
                <a:srgbClr val="98A2B8"/>
              </a:solidFill>
              <a:latin typeface="微软雅黑"/>
              <a:ea typeface="微软雅黑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522208" y="1225296"/>
            <a:ext cx="3182112" cy="3017520"/>
          </a:xfrm>
          <a:prstGeom prst="rect">
            <a:avLst/>
          </a:prstGeom>
          <a:solidFill>
            <a:srgbClr val="1C2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0" y="1335024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BEEF5"/>
                </a:solidFill>
                <a:latin typeface="微软雅黑"/>
                <a:ea typeface="微软雅黑"/>
              </a:rPr>
              <a:t>四条硬约束</a:t>
            </a:r>
            <a:endParaRPr sz="1500" b="1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686800" y="1783080"/>
            <a:ext cx="2852928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5A623"/>
                </a:solidFill>
                <a:latin typeface="微软雅黑"/>
                <a:ea typeface="微软雅黑"/>
              </a:rPr>
              <a:t>规格先行　</a:t>
            </a:r>
            <a:r>
              <a:rPr lang="zh-CN" sz="1300" b="1">
                <a:solidFill>
                  <a:srgbClr val="F5A623"/>
                </a:solidFill>
                <a:latin typeface="微软雅黑"/>
                <a:ea typeface="微软雅黑"/>
              </a:rPr>
              <a:t>机制先写进 SKILL.md，再动代码</a:t>
            </a:r>
            <a:endParaRPr sz="130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686800" y="2606040"/>
            <a:ext cx="2852928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69CD6"/>
                </a:solidFill>
                <a:latin typeface="微软雅黑"/>
                <a:ea typeface="微软雅黑"/>
              </a:rPr>
              <a:t>不得自创　</a:t>
            </a:r>
            <a:r>
              <a:rPr sz="1300" b="0">
                <a:solidFill>
                  <a:srgbClr val="EBEEF5"/>
                </a:solidFill>
                <a:latin typeface="微软雅黑"/>
                <a:ea typeface="微软雅黑"/>
              </a:rPr>
              <a:t>技能没覆盖的先问，不自行扩展（RULE §二）</a:t>
            </a:r>
            <a:endParaRPr sz="130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686800" y="3310128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98A2B8"/>
                </a:solidFill>
                <a:latin typeface="微软雅黑"/>
                <a:ea typeface="微软雅黑"/>
              </a:rPr>
              <a:t>每一步都有护栏</a:t>
            </a:r>
            <a:endParaRPr sz="1200" b="1">
              <a:solidFill>
                <a:srgbClr val="98A2B8"/>
              </a:solidFill>
              <a:latin typeface="微软雅黑"/>
              <a:ea typeface="微软雅黑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8686800" y="3611880"/>
            <a:ext cx="1170432" cy="411480"/>
          </a:xfrm>
          <a:prstGeom prst="roundRect">
            <a:avLst/>
          </a:prstGeom>
          <a:solidFill>
            <a:srgbClr val="262C42"/>
          </a:solidFill>
          <a:ln w="12700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8288" rIns="73152" bIns="18288" rtlCol="0" anchor="ctr"/>
          <a:lstStyle/>
          <a:p>
            <a:pPr algn="ctr"/>
            <a:r>
              <a:rPr sz="1100" b="0">
                <a:solidFill>
                  <a:srgbClr val="EBEEF5"/>
                </a:solidFill>
                <a:latin typeface="微软雅黑"/>
                <a:ea typeface="微软雅黑"/>
              </a:rPr>
              <a:t>改完必跑测试</a:t>
            </a:r>
            <a:endParaRPr sz="110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9966960" y="3611880"/>
            <a:ext cx="1170432" cy="411480"/>
          </a:xfrm>
          <a:prstGeom prst="roundRect">
            <a:avLst/>
          </a:prstGeom>
          <a:solidFill>
            <a:srgbClr val="262C42"/>
          </a:solidFill>
          <a:ln w="12700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8288" rIns="73152" bIns="18288" rtlCol="0" anchor="ctr"/>
          <a:lstStyle/>
          <a:p>
            <a:pPr algn="ctr"/>
            <a:r>
              <a:rPr sz="1100" b="0">
                <a:solidFill>
                  <a:srgbClr val="EBEEF5"/>
                </a:solidFill>
                <a:latin typeface="微软雅黑"/>
                <a:ea typeface="微软雅黑"/>
              </a:rPr>
              <a:t>小步提交</a:t>
            </a:r>
            <a:endParaRPr sz="110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8686800" y="4087368"/>
            <a:ext cx="1170432" cy="411480"/>
          </a:xfrm>
          <a:prstGeom prst="roundRect">
            <a:avLst/>
          </a:prstGeom>
          <a:solidFill>
            <a:srgbClr val="262C42"/>
          </a:solidFill>
          <a:ln w="12700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8288" rIns="73152" bIns="18288" rtlCol="0" anchor="ctr"/>
          <a:lstStyle/>
          <a:p>
            <a:pPr algn="ctr"/>
            <a:r>
              <a:rPr sz="1100" b="0">
                <a:solidFill>
                  <a:srgbClr val="EBEEF5"/>
                </a:solidFill>
                <a:latin typeface="微软雅黑"/>
                <a:ea typeface="微软雅黑"/>
              </a:rPr>
              <a:t>禁止自动 push</a:t>
            </a:r>
            <a:endParaRPr sz="110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9966960" y="4087368"/>
            <a:ext cx="1170432" cy="411480"/>
          </a:xfrm>
          <a:prstGeom prst="roundRect">
            <a:avLst/>
          </a:prstGeom>
          <a:solidFill>
            <a:srgbClr val="262C42"/>
          </a:solidFill>
          <a:ln w="12700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8288" rIns="73152" bIns="18288" rtlCol="0" anchor="ctr"/>
          <a:lstStyle/>
          <a:p>
            <a:pPr algn="ctr"/>
            <a:r>
              <a:rPr lang="zh-CN" sz="1100" b="0">
                <a:solidFill>
                  <a:srgbClr val="EBEEF5"/>
                </a:solidFill>
                <a:latin typeface="微软雅黑"/>
                <a:ea typeface="微软雅黑"/>
              </a:rPr>
              <a:t>人工验收</a:t>
            </a:r>
            <a:endParaRPr sz="110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686800" y="4846320"/>
            <a:ext cx="2880360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F5A623"/>
                </a:solidFill>
                <a:latin typeface="微软雅黑"/>
                <a:ea typeface="微软雅黑"/>
              </a:rPr>
              <a:t>五步闭环，全程留痕</a:t>
            </a:r>
            <a:endParaRPr sz="1200" b="1">
              <a:solidFill>
                <a:srgbClr val="98A2B8"/>
              </a:solidFill>
              <a:latin typeface="微软雅黑"/>
              <a:ea typeface="微软雅黑"/>
            </a:endParaRP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98A2B8"/>
                </a:solidFill>
                <a:latin typeface="微软雅黑"/>
                <a:ea typeface="微软雅黑"/>
              </a:rPr>
              <a:t>① 人把机制写进 SKILL.md</a:t>
            </a:r>
            <a:endParaRPr sz="1200" b="1">
              <a:solidFill>
                <a:srgbClr val="98A2B8"/>
              </a:solidFill>
              <a:latin typeface="微软雅黑"/>
              <a:ea typeface="微软雅黑"/>
            </a:endParaRP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98A2B8"/>
                </a:solidFill>
                <a:latin typeface="微软雅黑"/>
                <a:ea typeface="微软雅黑"/>
              </a:rPr>
              <a:t>② AI 按规格实现并自查</a:t>
            </a:r>
            <a:endParaRPr sz="1200" b="1">
              <a:solidFill>
                <a:srgbClr val="98A2B8"/>
              </a:solidFill>
              <a:latin typeface="微软雅黑"/>
              <a:ea typeface="微软雅黑"/>
            </a:endParaRP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98A2B8"/>
                </a:solidFill>
                <a:latin typeface="微软雅黑"/>
                <a:ea typeface="微软雅黑"/>
              </a:rPr>
              <a:t>③ 跑 108 个测试 + 解算器</a:t>
            </a:r>
            <a:endParaRPr sz="1200" b="1">
              <a:solidFill>
                <a:srgbClr val="98A2B8"/>
              </a:solidFill>
              <a:latin typeface="微软雅黑"/>
              <a:ea typeface="微软雅黑"/>
            </a:endParaRP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98A2B8"/>
                </a:solidFill>
                <a:latin typeface="微软雅黑"/>
                <a:ea typeface="微软雅黑"/>
              </a:rPr>
              <a:t>④ 红了回去修 / 绿了人验收</a:t>
            </a:r>
            <a:endParaRPr sz="1200" b="1">
              <a:solidFill>
                <a:srgbClr val="98A2B8"/>
              </a:solidFill>
              <a:latin typeface="微软雅黑"/>
              <a:ea typeface="微软雅黑"/>
            </a:endParaRP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98A2B8"/>
                </a:solidFill>
                <a:latin typeface="微软雅黑"/>
                <a:ea typeface="微软雅黑"/>
              </a:rPr>
              <a:t>⑤ git 小步提交，可追溯可回退</a:t>
            </a:r>
            <a:endParaRPr sz="1200" b="1">
              <a:solidFill>
                <a:srgbClr val="98A2B8"/>
              </a:solidFill>
              <a:latin typeface="微软雅黑"/>
              <a:ea typeface="微软雅黑"/>
            </a:endParaRPr>
          </a:p>
        </p:txBody>
      </p:sp>
      <p:pic>
        <p:nvPicPr>
          <p:cNvPr id="16" name="Picture 15" descr="flow_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188720"/>
            <a:ext cx="7882127" cy="354695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BEEF5"/>
                </a:solidFill>
                <a:latin typeface="微软雅黑"/>
                <a:ea typeface="微软雅黑"/>
              </a:rPr>
              <a:t>AI 的四种失效模式与应对</a:t>
            </a:r>
            <a:endParaRPr sz="2600" b="1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21207" y="950976"/>
            <a:ext cx="822960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98A2B8"/>
                </a:solidFill>
                <a:latin typeface="微软雅黑"/>
                <a:ea typeface="微软雅黑"/>
              </a:rPr>
              <a:t>董长坤 · 《递归之箱》结课汇报</a:t>
            </a:r>
            <a:endParaRPr sz="900" b="0">
              <a:solidFill>
                <a:srgbClr val="98A2B8"/>
              </a:solidFill>
              <a:latin typeface="微软雅黑"/>
              <a:ea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247120" y="6473952"/>
            <a:ext cx="822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98A2B8"/>
                </a:solidFill>
                <a:latin typeface="微软雅黑"/>
                <a:ea typeface="微软雅黑"/>
              </a:rPr>
              <a:t>5 / 13</a:t>
            </a:r>
            <a:endParaRPr sz="900" b="0">
              <a:solidFill>
                <a:srgbClr val="98A2B8"/>
              </a:solidFill>
              <a:latin typeface="微软雅黑"/>
              <a:ea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5577840" cy="2590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350" b="1">
                <a:solidFill>
                  <a:srgbClr val="F5A623"/>
                </a:solidFill>
                <a:latin typeface="微软雅黑"/>
                <a:ea typeface="微软雅黑"/>
              </a:rPr>
              <a:t>四种真实踩过的坑</a:t>
            </a:r>
            <a:endParaRPr sz="1600" b="1">
              <a:solidFill>
                <a:srgbClr val="F5A623"/>
              </a:solidFill>
              <a:latin typeface="微软雅黑"/>
              <a:ea typeface="微软雅黑"/>
            </a:endParaRPr>
          </a:p>
          <a:p>
            <a:pPr algn="l">
              <a:spcAft>
                <a:spcPts val="1000"/>
              </a:spcAft>
            </a:pPr>
            <a:r>
              <a:rPr sz="1250" b="0">
                <a:solidFill>
                  <a:srgbClr val="EBEEF5"/>
                </a:solidFill>
                <a:latin typeface="微软雅黑"/>
                <a:ea typeface="微软雅黑"/>
              </a:rPr>
              <a:t>▪  看不到画面 → 把“好不好看”变成对比度阈值 + 几何断言 + 程序生成的预览图</a:t>
            </a:r>
            <a:endParaRPr sz="1300" b="0">
              <a:solidFill>
                <a:srgbClr val="EBEEF5"/>
              </a:solidFill>
              <a:latin typeface="微软雅黑"/>
              <a:ea typeface="微软雅黑"/>
            </a:endParaRPr>
          </a:p>
          <a:p>
            <a:pPr algn="l">
              <a:spcAft>
                <a:spcPts val="1000"/>
              </a:spcAft>
            </a:pPr>
            <a:r>
              <a:rPr sz="1250" b="0">
                <a:solidFill>
                  <a:srgbClr val="EBEEF5"/>
                </a:solidFill>
                <a:latin typeface="微软雅黑"/>
                <a:ea typeface="微软雅黑"/>
              </a:rPr>
              <a:t>▪  想当然下结论 → 用 BFS 解算器推翻自己的“有解 / 无解”判断（两次）</a:t>
            </a:r>
            <a:endParaRPr sz="1300" b="0">
              <a:solidFill>
                <a:srgbClr val="EBEEF5"/>
              </a:solidFill>
              <a:latin typeface="微软雅黑"/>
              <a:ea typeface="微软雅黑"/>
            </a:endParaRPr>
          </a:p>
          <a:p>
            <a:pPr algn="l">
              <a:spcAft>
                <a:spcPts val="1000"/>
              </a:spcAft>
            </a:pPr>
            <a:r>
              <a:rPr sz="1250" b="0">
                <a:solidFill>
                  <a:srgbClr val="EBEEF5"/>
                </a:solidFill>
                <a:latin typeface="微软雅黑"/>
                <a:ea typeface="微软雅黑"/>
              </a:rPr>
              <a:t>▪  文档写了却被忽略 → AGENTS.md 自动注入，RULE.md / SKILL.md 必须先读再动手</a:t>
            </a:r>
            <a:endParaRPr sz="1300" b="0">
              <a:solidFill>
                <a:srgbClr val="EBEEF5"/>
              </a:solidFill>
              <a:latin typeface="微软雅黑"/>
              <a:ea typeface="微软雅黑"/>
            </a:endParaRPr>
          </a:p>
          <a:p>
            <a:pPr algn="l">
              <a:spcAft>
                <a:spcPts val="1000"/>
              </a:spcAft>
            </a:pPr>
            <a:r>
              <a:rPr sz="1250" b="1">
                <a:solidFill>
                  <a:srgbClr val="F5A623"/>
                </a:solidFill>
                <a:latin typeface="微软雅黑"/>
                <a:ea typeface="微软雅黑"/>
              </a:rPr>
              <a:t>▪  术语漂移 → 同一机制在两份文档里说法打架，统一术语并由测试盯住</a:t>
            </a:r>
            <a:endParaRPr sz="1600" b="1">
              <a:solidFill>
                <a:srgbClr val="F5A623"/>
              </a:solidFill>
              <a:latin typeface="微软雅黑"/>
              <a:ea typeface="微软雅黑"/>
            </a:endParaRPr>
          </a:p>
          <a:p>
            <a:pPr algn="l">
              <a:spcAft>
                <a:spcPts val="1000"/>
              </a:spcAft>
            </a:pPr>
            <a:r>
              <a:rPr sz="1350" b="1">
                <a:solidFill>
                  <a:srgbClr val="F5A623"/>
                </a:solidFill>
                <a:latin typeface="微软雅黑"/>
                <a:ea typeface="微软雅黑"/>
              </a:rPr>
              <a:t>边界与责任划分</a:t>
            </a:r>
            <a:endParaRPr sz="1300" b="0">
              <a:solidFill>
                <a:srgbClr val="EBEEF5"/>
              </a:solidFill>
              <a:latin typeface="微软雅黑"/>
              <a:ea typeface="微软雅黑"/>
            </a:endParaRPr>
          </a:p>
          <a:p>
            <a:pPr algn="l">
              <a:spcAft>
                <a:spcPts val="1000"/>
              </a:spcAft>
            </a:pPr>
            <a:r>
              <a:rPr sz="1250" b="0">
                <a:solidFill>
                  <a:srgbClr val="EBEEF5"/>
                </a:solidFill>
                <a:latin typeface="微软雅黑"/>
                <a:ea typeface="微软雅黑"/>
              </a:rPr>
              <a:t>▪  AI 承担实现与自查：代码生成、文档校对、解算器原型、关卡数据转换</a:t>
            </a:r>
            <a:endParaRPr sz="1300" b="0">
              <a:solidFill>
                <a:srgbClr val="EBEEF5"/>
              </a:solidFill>
              <a:latin typeface="微软雅黑"/>
              <a:ea typeface="微软雅黑"/>
            </a:endParaRPr>
          </a:p>
          <a:p>
            <a:pPr algn="l">
              <a:spcAft>
                <a:spcPts val="1000"/>
              </a:spcAft>
            </a:pPr>
            <a:r>
              <a:rPr sz="1250" b="0">
                <a:solidFill>
                  <a:srgbClr val="EBEEF5"/>
                </a:solidFill>
                <a:latin typeface="微软雅黑"/>
                <a:ea typeface="微软雅黑"/>
              </a:rPr>
              <a:t>▪  人承担判断与验收：定机制、定优先级、验观感与手感、决定取舍</a:t>
            </a:r>
            <a:endParaRPr sz="130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446520" y="1234440"/>
            <a:ext cx="5257800" cy="3337560"/>
          </a:xfrm>
          <a:prstGeom prst="rect">
            <a:avLst/>
          </a:prstGeom>
          <a:solidFill>
            <a:srgbClr val="1C2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389888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BEEF5"/>
                </a:solidFill>
                <a:latin typeface="微软雅黑"/>
                <a:ea typeface="微软雅黑"/>
              </a:rPr>
              <a:t>结论</a:t>
            </a:r>
            <a:endParaRPr sz="1500" b="1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675120" y="1874519"/>
            <a:ext cx="48463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5A623"/>
                </a:solidFill>
                <a:latin typeface="微软雅黑"/>
                <a:ea typeface="微软雅黑"/>
              </a:rPr>
              <a:t>AI 是加速器　</a:t>
            </a:r>
            <a:r>
              <a:rPr lang="zh-CN" sz="1300" b="1">
                <a:solidFill>
                  <a:srgbClr val="F5A623"/>
                </a:solidFill>
                <a:latin typeface="微软雅黑"/>
                <a:ea typeface="微软雅黑"/>
              </a:rPr>
              <a:t>不是决策者：规则与验收标准由人定</a:t>
            </a:r>
            <a:endParaRPr sz="130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675120" y="2468880"/>
            <a:ext cx="484632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69CD6"/>
                </a:solidFill>
                <a:latin typeface="微软雅黑"/>
                <a:ea typeface="微软雅黑"/>
              </a:rPr>
              <a:t>可验证才可用　</a:t>
            </a:r>
            <a:r>
              <a:rPr sz="1300" b="0">
                <a:solidFill>
                  <a:srgbClr val="EBEEF5"/>
                </a:solidFill>
                <a:latin typeface="微软雅黑"/>
                <a:ea typeface="微软雅黑"/>
              </a:rPr>
              <a:t>无法自动验证的产出，必须留人工验收环节</a:t>
            </a:r>
            <a:endParaRPr sz="130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675120" y="3246120"/>
            <a:ext cx="47548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98A2B8"/>
                </a:solidFill>
                <a:latin typeface="微软雅黑"/>
                <a:ea typeface="微软雅黑"/>
              </a:rPr>
              <a:t>关键词</a:t>
            </a:r>
            <a:endParaRPr sz="1200" b="1">
              <a:solidFill>
                <a:srgbClr val="98A2B8"/>
              </a:solidFill>
              <a:latin typeface="微软雅黑"/>
              <a:ea typeface="微软雅黑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675120" y="3611880"/>
            <a:ext cx="1133856" cy="457200"/>
          </a:xfrm>
          <a:prstGeom prst="roundRect">
            <a:avLst/>
          </a:prstGeom>
          <a:solidFill>
            <a:srgbClr val="262C42"/>
          </a:solidFill>
          <a:ln w="12700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8288" rIns="73152" bIns="18288" rtlCol="0" anchor="ctr"/>
          <a:lstStyle/>
          <a:p>
            <a:pPr algn="ctr"/>
            <a:r>
              <a:rPr sz="1100" b="0">
                <a:solidFill>
                  <a:srgbClr val="EBEEF5"/>
                </a:solidFill>
                <a:latin typeface="微软雅黑"/>
                <a:ea typeface="微软雅黑"/>
              </a:rPr>
              <a:t>规则先行</a:t>
            </a:r>
            <a:endParaRPr sz="110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7918704" y="3611880"/>
            <a:ext cx="1133856" cy="457200"/>
          </a:xfrm>
          <a:prstGeom prst="roundRect">
            <a:avLst/>
          </a:prstGeom>
          <a:solidFill>
            <a:srgbClr val="262C42"/>
          </a:solidFill>
          <a:ln w="12700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8288" rIns="73152" bIns="18288" rtlCol="0" anchor="ctr"/>
          <a:lstStyle/>
          <a:p>
            <a:pPr algn="ctr"/>
            <a:r>
              <a:rPr sz="1100" b="0">
                <a:solidFill>
                  <a:srgbClr val="EBEEF5"/>
                </a:solidFill>
                <a:latin typeface="微软雅黑"/>
                <a:ea typeface="微软雅黑"/>
              </a:rPr>
              <a:t>数据化验收</a:t>
            </a:r>
            <a:endParaRPr sz="110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9162288" y="3611880"/>
            <a:ext cx="1133856" cy="457200"/>
          </a:xfrm>
          <a:prstGeom prst="roundRect">
            <a:avLst/>
          </a:prstGeom>
          <a:solidFill>
            <a:srgbClr val="262C42"/>
          </a:solidFill>
          <a:ln w="12700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8288" rIns="73152" bIns="18288" rtlCol="0" anchor="ctr"/>
          <a:lstStyle/>
          <a:p>
            <a:pPr algn="ctr"/>
            <a:r>
              <a:rPr sz="1100" b="0">
                <a:solidFill>
                  <a:srgbClr val="EBEEF5"/>
                </a:solidFill>
                <a:latin typeface="微软雅黑"/>
                <a:ea typeface="微软雅黑"/>
              </a:rPr>
              <a:t>人工拍板</a:t>
            </a:r>
            <a:endParaRPr sz="110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10405872" y="3611880"/>
            <a:ext cx="1133856" cy="457200"/>
          </a:xfrm>
          <a:prstGeom prst="roundRect">
            <a:avLst/>
          </a:prstGeom>
          <a:solidFill>
            <a:srgbClr val="262C42"/>
          </a:solidFill>
          <a:ln w="12700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8288" rIns="73152" bIns="18288" rtlCol="0" anchor="ctr"/>
          <a:lstStyle/>
          <a:p>
            <a:pPr algn="ctr"/>
            <a:r>
              <a:rPr lang="zh-CN" sz="1100" b="0">
                <a:solidFill>
                  <a:srgbClr val="EBEEF5"/>
                </a:solidFill>
                <a:latin typeface="微软雅黑"/>
                <a:ea typeface="微软雅黑"/>
              </a:rPr>
              <a:t>全程留痕</a:t>
            </a:r>
            <a:endParaRPr sz="110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BEEF5"/>
                </a:solidFill>
                <a:latin typeface="微软雅黑"/>
                <a:ea typeface="微软雅黑"/>
              </a:rPr>
              <a:t>问题解决流程 · 五个真实问题</a:t>
            </a:r>
            <a:endParaRPr sz="2600" b="1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21207" y="950976"/>
            <a:ext cx="822960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98A2B8"/>
                </a:solidFill>
                <a:latin typeface="微软雅黑"/>
                <a:ea typeface="微软雅黑"/>
              </a:rPr>
              <a:t>董长坤 · 《递归之箱》结课汇报</a:t>
            </a:r>
            <a:endParaRPr sz="900" b="0">
              <a:solidFill>
                <a:srgbClr val="98A2B8"/>
              </a:solidFill>
              <a:latin typeface="微软雅黑"/>
              <a:ea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247120" y="6473952"/>
            <a:ext cx="822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98A2B8"/>
                </a:solidFill>
                <a:latin typeface="微软雅黑"/>
                <a:ea typeface="微软雅黑"/>
              </a:rPr>
              <a:t>6 / 13</a:t>
            </a:r>
            <a:endParaRPr sz="900" b="0">
              <a:solidFill>
                <a:srgbClr val="98A2B8"/>
              </a:solidFill>
              <a:latin typeface="微软雅黑"/>
              <a:ea typeface="微软雅黑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02920" y="1234440"/>
            <a:ext cx="2286000" cy="411480"/>
          </a:xfrm>
          <a:prstGeom prst="rect">
            <a:avLst/>
          </a:prstGeom>
          <a:solidFill>
            <a:srgbClr val="262C42"/>
          </a:solidFill>
          <a:ln w="9525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8288" rIns="73152" bIns="18288" rtlCol="0" anchor="ctr"/>
          <a:lstStyle/>
          <a:p>
            <a:pPr algn="ctr"/>
            <a:r>
              <a:rPr sz="1300" b="1">
                <a:solidFill>
                  <a:srgbClr val="EBEEF5"/>
                </a:solidFill>
                <a:latin typeface="微软雅黑"/>
                <a:ea typeface="微软雅黑"/>
              </a:rPr>
              <a:t>问题</a:t>
            </a:r>
            <a:endParaRPr sz="1300" b="1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788920" y="1234440"/>
            <a:ext cx="6263640" cy="411480"/>
          </a:xfrm>
          <a:prstGeom prst="rect">
            <a:avLst/>
          </a:prstGeom>
          <a:solidFill>
            <a:srgbClr val="262C42"/>
          </a:solidFill>
          <a:ln w="9525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8288" rIns="73152" bIns="18288" rtlCol="0" anchor="ctr"/>
          <a:lstStyle/>
          <a:p>
            <a:pPr algn="ctr"/>
            <a:r>
              <a:rPr sz="1300" b="1">
                <a:solidFill>
                  <a:srgbClr val="EBEEF5"/>
                </a:solidFill>
                <a:latin typeface="微软雅黑"/>
                <a:ea typeface="微软雅黑"/>
              </a:rPr>
              <a:t>定位与方案</a:t>
            </a:r>
            <a:endParaRPr sz="1300" b="1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052560" y="1234440"/>
            <a:ext cx="2651760" cy="411480"/>
          </a:xfrm>
          <a:prstGeom prst="rect">
            <a:avLst/>
          </a:prstGeom>
          <a:solidFill>
            <a:srgbClr val="262C42"/>
          </a:solidFill>
          <a:ln w="9525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8288" rIns="73152" bIns="18288" rtlCol="0" anchor="ctr"/>
          <a:lstStyle/>
          <a:p>
            <a:pPr algn="ctr"/>
            <a:r>
              <a:rPr sz="1300" b="1">
                <a:solidFill>
                  <a:srgbClr val="EBEEF5"/>
                </a:solidFill>
                <a:latin typeface="微软雅黑"/>
                <a:ea typeface="微软雅黑"/>
              </a:rPr>
              <a:t>结果</a:t>
            </a:r>
            <a:endParaRPr sz="1300" b="1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02920" y="1645920"/>
            <a:ext cx="2286000" cy="640080"/>
          </a:xfrm>
          <a:prstGeom prst="rect">
            <a:avLst/>
          </a:prstGeom>
          <a:solidFill>
            <a:srgbClr val="1C2132"/>
          </a:solidFill>
          <a:ln w="9525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2700" rIns="137160" bIns="12700" rtlCol="0" anchor="ctr"/>
          <a:lstStyle/>
          <a:p>
            <a:pPr algn="l"/>
            <a:r>
              <a:rPr sz="1100" b="1">
                <a:solidFill>
                  <a:srgbClr val="EBEEF5"/>
                </a:solidFill>
                <a:latin typeface="微软雅黑"/>
              </a:rPr>
              <a:t>退出落点歧义</a:t>
            </a:r>
            <a:endParaRPr sz="1300" b="1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2788920" y="1645920"/>
            <a:ext cx="6263640" cy="640080"/>
          </a:xfrm>
          <a:prstGeom prst="rect">
            <a:avLst/>
          </a:prstGeom>
          <a:solidFill>
            <a:srgbClr val="1C2132"/>
          </a:solidFill>
          <a:ln w="9525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2700" rIns="137160" bIns="12700" rtlCol="0" anchor="ctr"/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EBEEF5"/>
                </a:solidFill>
                <a:latin typeface="微软雅黑"/>
              </a:rPr>
              <a:t>▪ 现象：“进入时的箱子位置”有两种读法，退出点算错</a:t>
            </a:r>
            <a:endParaRPr sz="1150" b="0">
              <a:solidFill>
                <a:srgbClr val="EBEEF5"/>
              </a:solidFill>
              <a:latin typeface="微软雅黑"/>
              <a:ea typeface="微软雅黑"/>
            </a:endParaRP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EBEEF5"/>
                </a:solidFill>
                <a:latin typeface="微软雅黑"/>
              </a:rPr>
              <a:t>▪ 定位：一句话两种解释 → 先把术语定死</a:t>
            </a:r>
            <a:endParaRPr sz="1150" b="0">
              <a:solidFill>
                <a:srgbClr val="EBEEF5"/>
              </a:solidFill>
              <a:latin typeface="微软雅黑"/>
            </a:endParaRP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EBEEF5"/>
                </a:solidFill>
                <a:latin typeface="微软雅黑"/>
              </a:rPr>
              <a:t>▪ 方案：返回栈记 (world_ref, box_uid)，退出时现查位置</a:t>
            </a:r>
            <a:endParaRPr sz="1150" b="0">
              <a:solidFill>
                <a:srgbClr val="EBEEF5"/>
              </a:solidFill>
              <a:latin typeface="微软雅黑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9052560" y="1645920"/>
            <a:ext cx="2651760" cy="640080"/>
          </a:xfrm>
          <a:prstGeom prst="rect">
            <a:avLst/>
          </a:prstGeom>
          <a:solidFill>
            <a:srgbClr val="1C2132"/>
          </a:solidFill>
          <a:ln w="9525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2700" rIns="73152" bIns="12700" rtlCol="0" anchor="ctr"/>
          <a:lstStyle/>
          <a:p>
            <a:pPr algn="ctr"/>
            <a:r>
              <a:rPr sz="1100" b="1">
                <a:solidFill>
                  <a:srgbClr val="6CC77A"/>
                </a:solidFill>
                <a:latin typeface="微软雅黑"/>
              </a:rPr>
              <a:t>✅ 术语定稿</a:t>
            </a:r>
            <a:endParaRPr sz="1250" b="1">
              <a:solidFill>
                <a:srgbClr val="6CC77A"/>
              </a:solidFill>
              <a:latin typeface="微软雅黑"/>
              <a:ea typeface="微软雅黑"/>
            </a:endParaRPr>
          </a:p>
          <a:p>
            <a:pPr algn="ctr"/>
            <a:r>
              <a:rPr sz="1100" b="1">
                <a:solidFill>
                  <a:srgbClr val="6CC77A"/>
                </a:solidFill>
                <a:latin typeface="微软雅黑"/>
              </a:rPr>
              <a:t>+ 用例覆盖</a:t>
            </a:r>
            <a:endParaRPr sz="1250" b="1">
              <a:solidFill>
                <a:srgbClr val="6CC77A"/>
              </a:solidFill>
              <a:latin typeface="微软雅黑"/>
              <a:ea typeface="微软雅黑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02920" y="5413248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BEEF5"/>
                </a:solidFill>
                <a:latin typeface="微软雅黑"/>
                <a:ea typeface="微软雅黑"/>
              </a:rPr>
              <a:t>四步法</a:t>
            </a:r>
            <a:endParaRPr sz="1300" b="1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1600200" y="5349240"/>
            <a:ext cx="2286000" cy="457200"/>
          </a:xfrm>
          <a:prstGeom prst="roundRect">
            <a:avLst/>
          </a:prstGeom>
          <a:solidFill>
            <a:srgbClr val="1C2132"/>
          </a:solidFill>
          <a:ln w="12700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8288" rIns="73152" bIns="18288" rtlCol="0" anchor="ctr"/>
          <a:lstStyle/>
          <a:p>
            <a:pPr algn="ctr"/>
            <a:r>
              <a:rPr sz="1150" b="0">
                <a:solidFill>
                  <a:srgbClr val="EBEEF5"/>
                </a:solidFill>
                <a:latin typeface="微软雅黑"/>
                <a:ea typeface="微软雅黑"/>
              </a:rPr>
              <a:t>① 复现现象</a:t>
            </a:r>
            <a:endParaRPr sz="115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4069080" y="5349240"/>
            <a:ext cx="2286000" cy="457200"/>
          </a:xfrm>
          <a:prstGeom prst="roundRect">
            <a:avLst/>
          </a:prstGeom>
          <a:solidFill>
            <a:srgbClr val="1C2132"/>
          </a:solidFill>
          <a:ln w="12700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8288" rIns="73152" bIns="18288" rtlCol="0" anchor="ctr"/>
          <a:lstStyle/>
          <a:p>
            <a:pPr algn="ctr"/>
            <a:r>
              <a:rPr sz="1150" b="0">
                <a:solidFill>
                  <a:srgbClr val="EBEEF5"/>
                </a:solidFill>
                <a:latin typeface="微软雅黑"/>
                <a:ea typeface="微软雅黑"/>
              </a:rPr>
              <a:t>② 定位根因</a:t>
            </a:r>
            <a:endParaRPr sz="115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6537960" y="5349240"/>
            <a:ext cx="2286000" cy="457200"/>
          </a:xfrm>
          <a:prstGeom prst="roundRect">
            <a:avLst/>
          </a:prstGeom>
          <a:solidFill>
            <a:srgbClr val="1C2132"/>
          </a:solidFill>
          <a:ln w="12700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8288" rIns="73152" bIns="18288" rtlCol="0" anchor="ctr"/>
          <a:lstStyle/>
          <a:p>
            <a:pPr algn="ctr"/>
            <a:r>
              <a:rPr sz="1150" b="0">
                <a:solidFill>
                  <a:srgbClr val="EBEEF5"/>
                </a:solidFill>
                <a:latin typeface="微软雅黑"/>
                <a:ea typeface="微软雅黑"/>
              </a:rPr>
              <a:t>③ 定方案</a:t>
            </a:r>
            <a:endParaRPr sz="115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9006840" y="5349240"/>
            <a:ext cx="2286000" cy="457200"/>
          </a:xfrm>
          <a:prstGeom prst="roundRect">
            <a:avLst/>
          </a:prstGeom>
          <a:solidFill>
            <a:srgbClr val="1C2132"/>
          </a:solidFill>
          <a:ln w="12700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8288" rIns="73152" bIns="18288" rtlCol="0" anchor="ctr"/>
          <a:lstStyle/>
          <a:p>
            <a:pPr algn="ctr"/>
            <a:r>
              <a:rPr sz="1150" b="0">
                <a:solidFill>
                  <a:srgbClr val="EBEEF5"/>
                </a:solidFill>
                <a:latin typeface="微软雅黑"/>
                <a:ea typeface="微软雅黑"/>
              </a:rPr>
              <a:t>④ 验证并固化</a:t>
            </a:r>
            <a:endParaRPr sz="115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02920" y="2340864"/>
            <a:ext cx="2286000" cy="640080"/>
          </a:xfrm>
          <a:prstGeom prst="rect">
            <a:avLst/>
          </a:prstGeom>
          <a:solidFill>
            <a:srgbClr val="1C2132"/>
          </a:solidFill>
          <a:ln w="9525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2700" rIns="137160" bIns="12700" rtlCol="0" anchor="ctr"/>
          <a:lstStyle/>
          <a:p>
            <a:pPr algn="l"/>
            <a:r>
              <a:rPr sz="1100" b="1">
                <a:solidFill>
                  <a:srgbClr val="EBEEF5"/>
                </a:solidFill>
                <a:latin typeface="微软雅黑"/>
              </a:rPr>
              <a:t>门的方向模型</a:t>
            </a:r>
            <a:endParaRPr sz="1300" b="1">
              <a:solidFill>
                <a:srgbClr val="EBEEF5"/>
              </a:solidFill>
              <a:latin typeface="微软雅黑"/>
              <a:ea typeface="微软雅黑"/>
            </a:endParaRPr>
          </a:p>
          <a:p>
            <a:pPr algn="l"/>
            <a:r>
              <a:rPr sz="1100" b="1">
                <a:solidFill>
                  <a:srgbClr val="EBEEF5"/>
                </a:solidFill>
                <a:latin typeface="微软雅黑"/>
              </a:rPr>
              <a:t>表达力不足</a:t>
            </a:r>
            <a:endParaRPr sz="1300" b="1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2788920" y="2340864"/>
            <a:ext cx="6263640" cy="640080"/>
          </a:xfrm>
          <a:prstGeom prst="rect">
            <a:avLst/>
          </a:prstGeom>
          <a:solidFill>
            <a:srgbClr val="1C2132"/>
          </a:solidFill>
          <a:ln w="9525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2700" rIns="137160" bIns="12700" rtlCol="0" anchor="ctr"/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EBEEF5"/>
                </a:solidFill>
                <a:latin typeface="微软雅黑"/>
              </a:rPr>
              <a:t>▪ 现象：箱子只有一条边能进出，其余边开着也进不去</a:t>
            </a:r>
            <a:endParaRPr sz="1150" b="0">
              <a:solidFill>
                <a:srgbClr val="EBEEF5"/>
              </a:solidFill>
              <a:latin typeface="微软雅黑"/>
              <a:ea typeface="微软雅黑"/>
            </a:endParaRP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EBEEF5"/>
                </a:solidFill>
                <a:latin typeface="微软雅黑"/>
              </a:rPr>
              <a:t>▪ 定位：门是外挂的方向字段，和地图脱节</a:t>
            </a:r>
            <a:endParaRPr sz="1150" b="0">
              <a:solidFill>
                <a:srgbClr val="EBEEF5"/>
              </a:solidFill>
              <a:latin typeface="微软雅黑"/>
            </a:endParaRP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EBEEF5"/>
                </a:solidFill>
                <a:latin typeface="微软雅黑"/>
              </a:rPr>
              <a:t>▪ 方案：内层奇数尺寸，四边中心格即口位（是墙则无口）</a:t>
            </a:r>
            <a:endParaRPr sz="1150" b="0">
              <a:solidFill>
                <a:srgbClr val="EBEEF5"/>
              </a:solidFill>
              <a:latin typeface="微软雅黑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9052560" y="2340864"/>
            <a:ext cx="2651760" cy="640080"/>
          </a:xfrm>
          <a:prstGeom prst="rect">
            <a:avLst/>
          </a:prstGeom>
          <a:solidFill>
            <a:srgbClr val="1C2132"/>
          </a:solidFill>
          <a:ln w="9525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2700" rIns="73152" bIns="12700" rtlCol="0" anchor="ctr"/>
          <a:lstStyle/>
          <a:p>
            <a:pPr algn="ctr"/>
            <a:r>
              <a:rPr sz="1100" b="1">
                <a:solidFill>
                  <a:srgbClr val="6CC77A"/>
                </a:solidFill>
                <a:latin typeface="微软雅黑"/>
              </a:rPr>
              <a:t>✅ 重构</a:t>
            </a:r>
            <a:endParaRPr sz="1250" b="1">
              <a:solidFill>
                <a:srgbClr val="6CC77A"/>
              </a:solidFill>
              <a:latin typeface="微软雅黑"/>
              <a:ea typeface="微软雅黑"/>
            </a:endParaRPr>
          </a:p>
          <a:p>
            <a:pPr algn="ctr"/>
            <a:r>
              <a:rPr sz="1100" b="1">
                <a:solidFill>
                  <a:srgbClr val="6CC77A"/>
                </a:solidFill>
                <a:latin typeface="微软雅黑"/>
              </a:rPr>
              <a:t>+ 双向穿口</a:t>
            </a:r>
            <a:endParaRPr sz="1250" b="1">
              <a:solidFill>
                <a:srgbClr val="6CC77A"/>
              </a:solidFill>
              <a:latin typeface="微软雅黑"/>
              <a:ea typeface="微软雅黑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02920" y="3035808"/>
            <a:ext cx="2286000" cy="640080"/>
          </a:xfrm>
          <a:prstGeom prst="rect">
            <a:avLst/>
          </a:prstGeom>
          <a:solidFill>
            <a:srgbClr val="1C2132"/>
          </a:solidFill>
          <a:ln w="9525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2700" rIns="137160" bIns="12700" rtlCol="0" anchor="ctr"/>
          <a:lstStyle/>
          <a:p>
            <a:pPr algn="l"/>
            <a:r>
              <a:rPr sz="1100" b="1">
                <a:solidFill>
                  <a:srgbClr val="EBEEF5"/>
                </a:solidFill>
                <a:latin typeface="微软雅黑"/>
              </a:rPr>
              <a:t>「吞食01」</a:t>
            </a:r>
            <a:endParaRPr sz="1300" b="1">
              <a:solidFill>
                <a:srgbClr val="EBEEF5"/>
              </a:solidFill>
              <a:latin typeface="微软雅黑"/>
              <a:ea typeface="微软雅黑"/>
            </a:endParaRPr>
          </a:p>
          <a:p>
            <a:pPr algn="l"/>
            <a:r>
              <a:rPr sz="1100" b="1">
                <a:solidFill>
                  <a:srgbClr val="EBEEF5"/>
                </a:solidFill>
                <a:latin typeface="微软雅黑"/>
              </a:rPr>
              <a:t>到底有没有解</a:t>
            </a:r>
            <a:endParaRPr sz="1300" b="1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2788920" y="3035808"/>
            <a:ext cx="6263640" cy="640080"/>
          </a:xfrm>
          <a:prstGeom prst="rect">
            <a:avLst/>
          </a:prstGeom>
          <a:solidFill>
            <a:srgbClr val="1C2132"/>
          </a:solidFill>
          <a:ln w="9525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2700" rIns="137160" bIns="12700" rtlCol="0" anchor="ctr"/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EBEEF5"/>
                </a:solidFill>
                <a:latin typeface="微软雅黑"/>
              </a:rPr>
              <a:t>▪ 现象：肉眼分析判“无解”，被解算器直接推翻</a:t>
            </a:r>
            <a:endParaRPr sz="1150" b="0">
              <a:solidFill>
                <a:srgbClr val="EBEEF5"/>
              </a:solidFill>
              <a:latin typeface="微软雅黑"/>
              <a:ea typeface="微软雅黑"/>
            </a:endParaRP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EBEEF5"/>
                </a:solidFill>
                <a:latin typeface="微软雅黑"/>
              </a:rPr>
              <a:t>▪ 方案：自研 BFS 解算器求最短解（状态哈希去重）</a:t>
            </a:r>
            <a:endParaRPr sz="1150" b="0">
              <a:solidFill>
                <a:srgbClr val="EBEEF5"/>
              </a:solidFill>
              <a:latin typeface="微软雅黑"/>
            </a:endParaRP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EBEEF5"/>
                </a:solidFill>
                <a:latin typeface="微软雅黑"/>
              </a:rPr>
              <a:t>▪ 顺带查出内层末行误加的口 → 改成必吞食解</a:t>
            </a:r>
            <a:endParaRPr sz="1150" b="0">
              <a:solidFill>
                <a:srgbClr val="EBEEF5"/>
              </a:solidFill>
              <a:latin typeface="微软雅黑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9052560" y="3035808"/>
            <a:ext cx="2651760" cy="640080"/>
          </a:xfrm>
          <a:prstGeom prst="rect">
            <a:avLst/>
          </a:prstGeom>
          <a:solidFill>
            <a:srgbClr val="1C2132"/>
          </a:solidFill>
          <a:ln w="9525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2700" rIns="73152" bIns="12700" rtlCol="0" anchor="ctr"/>
          <a:lstStyle/>
          <a:p>
            <a:pPr algn="ctr"/>
            <a:r>
              <a:rPr sz="1100" b="1">
                <a:solidFill>
                  <a:srgbClr val="6CC77A"/>
                </a:solidFill>
                <a:latin typeface="微软雅黑"/>
              </a:rPr>
              <a:t>✅ 21 步 →</a:t>
            </a:r>
            <a:endParaRPr sz="1250" b="1">
              <a:solidFill>
                <a:srgbClr val="6CC77A"/>
              </a:solidFill>
              <a:latin typeface="微软雅黑"/>
              <a:ea typeface="微软雅黑"/>
            </a:endParaRPr>
          </a:p>
          <a:p>
            <a:pPr algn="ctr"/>
            <a:r>
              <a:rPr sz="1100" b="1">
                <a:solidFill>
                  <a:srgbClr val="6CC77A"/>
                </a:solidFill>
                <a:latin typeface="微软雅黑"/>
              </a:rPr>
              <a:t>37 步</a:t>
            </a:r>
            <a:endParaRPr sz="1250" b="1">
              <a:solidFill>
                <a:srgbClr val="6CC77A"/>
              </a:solidFill>
              <a:latin typeface="微软雅黑"/>
              <a:ea typeface="微软雅黑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02920" y="3730752"/>
            <a:ext cx="2286000" cy="640080"/>
          </a:xfrm>
          <a:prstGeom prst="rect">
            <a:avLst/>
          </a:prstGeom>
          <a:solidFill>
            <a:srgbClr val="1C2132"/>
          </a:solidFill>
          <a:ln w="9525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2700" rIns="137160" bIns="12700" rtlCol="0" anchor="ctr"/>
          <a:lstStyle/>
          <a:p>
            <a:pPr algn="l"/>
            <a:r>
              <a:rPr sz="1100" b="1">
                <a:solidFill>
                  <a:srgbClr val="EBEEF5"/>
                </a:solidFill>
                <a:latin typeface="微软雅黑"/>
              </a:rPr>
              <a:t>37 步显示成 39 步</a:t>
            </a:r>
            <a:endParaRPr sz="1300" b="1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2788920" y="3730752"/>
            <a:ext cx="6263640" cy="640080"/>
          </a:xfrm>
          <a:prstGeom prst="rect">
            <a:avLst/>
          </a:prstGeom>
          <a:solidFill>
            <a:srgbClr val="1C2132"/>
          </a:solidFill>
          <a:ln w="9525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2700" rIns="137160" bIns="12700" rtlCol="0" anchor="ctr"/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EBEEF5"/>
                </a:solidFill>
                <a:latin typeface="微软雅黑"/>
              </a:rPr>
              <a:t>▪ 现象：回归测试断言 moves == 37 直接失败</a:t>
            </a:r>
            <a:endParaRPr sz="1150" b="0">
              <a:solidFill>
                <a:srgbClr val="EBEEF5"/>
              </a:solidFill>
              <a:latin typeface="微软雅黑"/>
              <a:ea typeface="微软雅黑"/>
            </a:endParaRP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EBEEF5"/>
                </a:solidFill>
                <a:latin typeface="微软雅黑"/>
              </a:rPr>
              <a:t>▪ 定位：搬运 / 推出路径上 nested 与 logic 各计一次</a:t>
            </a:r>
            <a:endParaRPr sz="1150" b="0">
              <a:solidFill>
                <a:srgbClr val="EBEEF5"/>
              </a:solidFill>
              <a:latin typeface="微软雅黑"/>
            </a:endParaRP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EBEEF5"/>
                </a:solidFill>
                <a:latin typeface="微软雅黑"/>
              </a:rPr>
              <a:t>▪ 方案：计数只由 logic.move() 的 _accepted() 负责</a:t>
            </a:r>
            <a:endParaRPr sz="1150" b="0">
              <a:solidFill>
                <a:srgbClr val="EBEEF5"/>
              </a:solidFill>
              <a:latin typeface="微软雅黑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9052560" y="3730752"/>
            <a:ext cx="2651760" cy="640080"/>
          </a:xfrm>
          <a:prstGeom prst="rect">
            <a:avLst/>
          </a:prstGeom>
          <a:solidFill>
            <a:srgbClr val="1C2132"/>
          </a:solidFill>
          <a:ln w="9525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2700" rIns="73152" bIns="12700" rtlCol="0" anchor="ctr"/>
          <a:lstStyle/>
          <a:p>
            <a:pPr algn="ctr"/>
            <a:r>
              <a:rPr sz="1100" b="1">
                <a:solidFill>
                  <a:srgbClr val="6CC77A"/>
                </a:solidFill>
                <a:latin typeface="微软雅黑"/>
              </a:rPr>
              <a:t>✅ 修复</a:t>
            </a:r>
            <a:endParaRPr sz="1250" b="1">
              <a:solidFill>
                <a:srgbClr val="6CC77A"/>
              </a:solidFill>
              <a:latin typeface="微软雅黑"/>
              <a:ea typeface="微软雅黑"/>
            </a:endParaRPr>
          </a:p>
          <a:p>
            <a:pPr algn="ctr"/>
            <a:r>
              <a:rPr sz="1100" b="1">
                <a:solidFill>
                  <a:srgbClr val="6CC77A"/>
                </a:solidFill>
                <a:latin typeface="微软雅黑"/>
              </a:rPr>
              <a:t>+ 回归用例</a:t>
            </a:r>
            <a:endParaRPr sz="1250" b="1">
              <a:solidFill>
                <a:srgbClr val="6CC77A"/>
              </a:solidFill>
              <a:latin typeface="微软雅黑"/>
              <a:ea typeface="微软雅黑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02920" y="4425696"/>
            <a:ext cx="2286000" cy="640080"/>
          </a:xfrm>
          <a:prstGeom prst="rect">
            <a:avLst/>
          </a:prstGeom>
          <a:solidFill>
            <a:srgbClr val="1C2132"/>
          </a:solidFill>
          <a:ln w="9525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2700" rIns="137160" bIns="12700" rtlCol="0" anchor="ctr"/>
          <a:lstStyle/>
          <a:p>
            <a:pPr algn="l"/>
            <a:r>
              <a:rPr sz="1100" b="1">
                <a:solidFill>
                  <a:srgbClr val="EBEEF5"/>
                </a:solidFill>
                <a:latin typeface="微软雅黑"/>
              </a:rPr>
              <a:t>渲染没法人工验收</a:t>
            </a:r>
            <a:endParaRPr sz="1300" b="1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2788920" y="4425696"/>
            <a:ext cx="6263640" cy="640080"/>
          </a:xfrm>
          <a:prstGeom prst="rect">
            <a:avLst/>
          </a:prstGeom>
          <a:solidFill>
            <a:srgbClr val="1C2132"/>
          </a:solidFill>
          <a:ln w="9525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2700" rIns="137160" bIns="12700" rtlCol="0" anchor="ctr"/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EBEEF5"/>
                </a:solidFill>
                <a:latin typeface="微软雅黑"/>
              </a:rPr>
              <a:t>▪ 现象：AI 看不到画面，无法判断“好不好看”</a:t>
            </a:r>
            <a:endParaRPr sz="1150" b="0">
              <a:solidFill>
                <a:srgbClr val="EBEEF5"/>
              </a:solidFill>
              <a:latin typeface="微软雅黑"/>
              <a:ea typeface="微软雅黑"/>
            </a:endParaRP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EBEEF5"/>
                </a:solidFill>
                <a:latin typeface="微软雅黑"/>
              </a:rPr>
              <a:t>▪ 方案：对比度阈值 + 色板与文档逐值比对</a:t>
            </a:r>
            <a:endParaRPr sz="1150" b="0">
              <a:solidFill>
                <a:srgbClr val="EBEEF5"/>
              </a:solidFill>
              <a:latin typeface="微软雅黑"/>
            </a:endParaRP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EBEEF5"/>
                </a:solidFill>
                <a:latin typeface="微软雅黑"/>
              </a:rPr>
              <a:t>▪ 补程序生成的预览图，人只看最终观感</a:t>
            </a:r>
            <a:endParaRPr sz="1150" b="0">
              <a:solidFill>
                <a:srgbClr val="EBEEF5"/>
              </a:solidFill>
              <a:latin typeface="微软雅黑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9052560" y="4425696"/>
            <a:ext cx="2651760" cy="640080"/>
          </a:xfrm>
          <a:prstGeom prst="rect">
            <a:avLst/>
          </a:prstGeom>
          <a:solidFill>
            <a:srgbClr val="1C2132"/>
          </a:solidFill>
          <a:ln w="9525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2700" rIns="73152" bIns="12700" rtlCol="0" anchor="ctr"/>
          <a:lstStyle/>
          <a:p>
            <a:pPr algn="ctr"/>
            <a:r>
              <a:rPr sz="1100" b="1">
                <a:solidFill>
                  <a:srgbClr val="6CC77A"/>
                </a:solidFill>
                <a:latin typeface="微软雅黑"/>
              </a:rPr>
              <a:t>✅ 自动化</a:t>
            </a:r>
            <a:endParaRPr sz="1250" b="1">
              <a:solidFill>
                <a:srgbClr val="6CC77A"/>
              </a:solidFill>
              <a:latin typeface="微软雅黑"/>
              <a:ea typeface="微软雅黑"/>
            </a:endParaRPr>
          </a:p>
          <a:p>
            <a:pPr algn="ctr"/>
            <a:r>
              <a:rPr sz="1100" b="1">
                <a:solidFill>
                  <a:srgbClr val="6CC77A"/>
                </a:solidFill>
                <a:latin typeface="微软雅黑"/>
              </a:rPr>
              <a:t>+ 人工确认</a:t>
            </a:r>
            <a:endParaRPr sz="1250" b="1">
              <a:solidFill>
                <a:srgbClr val="6CC77A"/>
              </a:solidFill>
              <a:latin typeface="微软雅黑"/>
              <a:ea typeface="微软雅黑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BEEF5"/>
                </a:solidFill>
                <a:latin typeface="微软雅黑"/>
                <a:ea typeface="微软雅黑"/>
              </a:rPr>
              <a:t>问题解决案例 ① · 门由内层地图边缘决定</a:t>
            </a:r>
            <a:endParaRPr sz="2600" b="1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21207" y="950976"/>
            <a:ext cx="822960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98A2B8"/>
                </a:solidFill>
                <a:latin typeface="微软雅黑"/>
                <a:ea typeface="微软雅黑"/>
              </a:rPr>
              <a:t>董长坤 · 《递归之箱》结课汇报</a:t>
            </a:r>
            <a:endParaRPr sz="900" b="0">
              <a:solidFill>
                <a:srgbClr val="98A2B8"/>
              </a:solidFill>
              <a:latin typeface="微软雅黑"/>
              <a:ea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247120" y="6473952"/>
            <a:ext cx="822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98A2B8"/>
                </a:solidFill>
                <a:latin typeface="微软雅黑"/>
                <a:ea typeface="微软雅黑"/>
              </a:rPr>
              <a:t>7 / 13</a:t>
            </a:r>
            <a:endParaRPr sz="900" b="0">
              <a:solidFill>
                <a:srgbClr val="98A2B8"/>
              </a:solidFill>
              <a:latin typeface="微软雅黑"/>
              <a:ea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5577840" cy="2590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350" b="1">
                <a:solidFill>
                  <a:srgbClr val="F5A623"/>
                </a:solidFill>
                <a:latin typeface="微软雅黑"/>
                <a:ea typeface="微软雅黑"/>
              </a:rPr>
              <a:t>现象</a:t>
            </a:r>
            <a:endParaRPr sz="1600" b="1">
              <a:solidFill>
                <a:srgbClr val="F5A623"/>
              </a:solidFill>
              <a:latin typeface="微软雅黑"/>
              <a:ea typeface="微软雅黑"/>
            </a:endParaRPr>
          </a:p>
          <a:p>
            <a:pPr algn="l">
              <a:spcAft>
                <a:spcPts val="1000"/>
              </a:spcAft>
            </a:pPr>
            <a:r>
              <a:rPr sz="1250" b="0">
                <a:solidFill>
                  <a:srgbClr val="EBEEF5"/>
                </a:solidFill>
                <a:latin typeface="微软雅黑"/>
                <a:ea typeface="微软雅黑"/>
              </a:rPr>
              <a:t>▪  测试时发现：箱子只有一条边能进出，别的边空着也进不去</a:t>
            </a:r>
            <a:endParaRPr sz="1300" b="0">
              <a:solidFill>
                <a:srgbClr val="EBEEF5"/>
              </a:solidFill>
              <a:latin typeface="微软雅黑"/>
              <a:ea typeface="微软雅黑"/>
            </a:endParaRPr>
          </a:p>
          <a:p>
            <a:pPr algn="l">
              <a:spcAft>
                <a:spcPts val="1000"/>
              </a:spcAft>
            </a:pPr>
            <a:r>
              <a:rPr sz="1250" b="0">
                <a:solidFill>
                  <a:srgbClr val="EBEEF5"/>
                </a:solidFill>
                <a:latin typeface="微软雅黑"/>
                <a:ea typeface="微软雅黑"/>
              </a:rPr>
              <a:t>▪  期望：哪条边能进，应该由内层地图自己说，而不是外挂字段</a:t>
            </a:r>
            <a:endParaRPr sz="1300" b="0">
              <a:solidFill>
                <a:srgbClr val="EBEEF5"/>
              </a:solidFill>
              <a:latin typeface="微软雅黑"/>
              <a:ea typeface="微软雅黑"/>
            </a:endParaRPr>
          </a:p>
          <a:p>
            <a:pPr algn="l">
              <a:spcAft>
                <a:spcPts val="1000"/>
              </a:spcAft>
            </a:pPr>
            <a:r>
              <a:rPr sz="1350" b="1">
                <a:solidFill>
                  <a:srgbClr val="F5A623"/>
                </a:solidFill>
                <a:latin typeface="微软雅黑"/>
                <a:ea typeface="微软雅黑"/>
              </a:rPr>
              <a:t>定位与方案</a:t>
            </a:r>
            <a:endParaRPr sz="1300" b="0">
              <a:solidFill>
                <a:srgbClr val="EBEEF5"/>
              </a:solidFill>
              <a:latin typeface="微软雅黑"/>
              <a:ea typeface="微软雅黑"/>
            </a:endParaRPr>
          </a:p>
          <a:p>
            <a:pPr algn="l">
              <a:spcAft>
                <a:spcPts val="1000"/>
              </a:spcAft>
            </a:pPr>
            <a:r>
              <a:rPr sz="1250" b="1">
                <a:solidFill>
                  <a:srgbClr val="F5A623"/>
                </a:solidFill>
                <a:latin typeface="微软雅黑"/>
                <a:ea typeface="微软雅黑"/>
              </a:rPr>
              <a:t>▪  根因：门是数据里的方向字段，和地图脱节，改地图还要同步改字段</a:t>
            </a:r>
            <a:endParaRPr sz="1600" b="1">
              <a:solidFill>
                <a:srgbClr val="F5A623"/>
              </a:solidFill>
              <a:latin typeface="微软雅黑"/>
              <a:ea typeface="微软雅黑"/>
            </a:endParaRPr>
          </a:p>
          <a:p>
            <a:pPr algn="l">
              <a:spcAft>
                <a:spcPts val="1000"/>
              </a:spcAft>
            </a:pPr>
            <a:r>
              <a:rPr sz="1250" b="0">
                <a:solidFill>
                  <a:srgbClr val="EBEEF5"/>
                </a:solidFill>
                <a:latin typeface="微软雅黑"/>
                <a:ea typeface="微软雅黑"/>
              </a:rPr>
              <a:t>▪  方案：内层宽高必须为奇数，四条边的中心格就是口位；是墙就没口</a:t>
            </a:r>
            <a:endParaRPr sz="1300" b="0">
              <a:solidFill>
                <a:srgbClr val="EBEEF5"/>
              </a:solidFill>
              <a:latin typeface="微软雅黑"/>
              <a:ea typeface="微软雅黑"/>
            </a:endParaRPr>
          </a:p>
          <a:p>
            <a:pPr algn="l">
              <a:spcAft>
                <a:spcPts val="1000"/>
              </a:spcAft>
            </a:pPr>
            <a:r>
              <a:rPr sz="1250" b="0">
                <a:solidFill>
                  <a:srgbClr val="EBEEF5"/>
                </a:solidFill>
                <a:latin typeface="微软雅黑"/>
                <a:ea typeface="微软雅黑"/>
              </a:rPr>
              <a:t>▪  顺带补上双向穿口：箱子能被推进别人的口，也能从内部推出来</a:t>
            </a:r>
            <a:endParaRPr sz="1300" b="0">
              <a:solidFill>
                <a:srgbClr val="EBEEF5"/>
              </a:solidFill>
              <a:latin typeface="微软雅黑"/>
              <a:ea typeface="微软雅黑"/>
            </a:endParaRPr>
          </a:p>
          <a:p>
            <a:pPr algn="l">
              <a:spcAft>
                <a:spcPts val="1000"/>
              </a:spcAft>
            </a:pPr>
            <a:r>
              <a:rPr sz="1350" b="1">
                <a:solidFill>
                  <a:srgbClr val="F5A623"/>
                </a:solidFill>
                <a:latin typeface="微软雅黑"/>
                <a:ea typeface="微软雅黑"/>
              </a:rPr>
              <a:t>验证</a:t>
            </a:r>
            <a:endParaRPr sz="1300" b="0">
              <a:solidFill>
                <a:srgbClr val="EBEEF5"/>
              </a:solidFill>
              <a:latin typeface="微软雅黑"/>
              <a:ea typeface="微软雅黑"/>
            </a:endParaRPr>
          </a:p>
          <a:p>
            <a:pPr algn="l">
              <a:spcAft>
                <a:spcPts val="1000"/>
              </a:spcAft>
            </a:pPr>
            <a:r>
              <a:rPr sz="1250" b="0">
                <a:solidFill>
                  <a:srgbClr val="EBEEF5"/>
                </a:solidFill>
                <a:latin typeface="微软雅黑"/>
                <a:ea typeface="微软雅黑"/>
              </a:rPr>
              <a:t>▪  两个口 21 步可过 vs 只留一个口 37 步（解算器实测）→ 吞食成为必经</a:t>
            </a:r>
            <a:endParaRPr sz="130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446520" y="1234440"/>
            <a:ext cx="5257800" cy="3337560"/>
          </a:xfrm>
          <a:prstGeom prst="rect">
            <a:avLst/>
          </a:prstGeom>
          <a:solidFill>
            <a:srgbClr val="1C2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389888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BEEF5"/>
                </a:solidFill>
                <a:latin typeface="微软雅黑"/>
                <a:ea typeface="微软雅黑"/>
              </a:rPr>
              <a:t>为什么改成边缘墙</a:t>
            </a:r>
            <a:endParaRPr sz="1500" b="1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675120" y="1874519"/>
            <a:ext cx="48463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5A623"/>
                </a:solidFill>
                <a:latin typeface="微软雅黑"/>
                <a:ea typeface="微软雅黑"/>
              </a:rPr>
              <a:t>所见即所得　</a:t>
            </a:r>
            <a:r>
              <a:rPr lang="zh-CN" sz="1300" b="1">
                <a:solidFill>
                  <a:srgbClr val="F5A623"/>
                </a:solidFill>
                <a:latin typeface="微软雅黑"/>
                <a:ea typeface="微软雅黑"/>
              </a:rPr>
              <a:t>墙上的缺口就是门，玩家不用猜</a:t>
            </a:r>
            <a:endParaRPr sz="130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675120" y="2468880"/>
            <a:ext cx="484632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69CD6"/>
                </a:solidFill>
                <a:latin typeface="微软雅黑"/>
                <a:ea typeface="微软雅黑"/>
              </a:rPr>
              <a:t>校验前置　</a:t>
            </a:r>
            <a:r>
              <a:rPr sz="1300" b="0">
                <a:solidFill>
                  <a:srgbClr val="EBEEF5"/>
                </a:solidFill>
                <a:latin typeface="微软雅黑"/>
                <a:ea typeface="微软雅黑"/>
              </a:rPr>
              <a:t>奇数尺寸 + 边缘除中心格外必须是墙，解析期报错</a:t>
            </a:r>
            <a:endParaRPr sz="130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675120" y="3246120"/>
            <a:ext cx="47548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98A2B8"/>
                </a:solidFill>
                <a:latin typeface="微软雅黑"/>
                <a:ea typeface="微软雅黑"/>
              </a:rPr>
              <a:t>关键词</a:t>
            </a:r>
            <a:endParaRPr sz="1200" b="1">
              <a:solidFill>
                <a:srgbClr val="98A2B8"/>
              </a:solidFill>
              <a:latin typeface="微软雅黑"/>
              <a:ea typeface="微软雅黑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675120" y="3611880"/>
            <a:ext cx="1133856" cy="457200"/>
          </a:xfrm>
          <a:prstGeom prst="roundRect">
            <a:avLst/>
          </a:prstGeom>
          <a:solidFill>
            <a:srgbClr val="262C42"/>
          </a:solidFill>
          <a:ln w="12700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8288" rIns="73152" bIns="18288" rtlCol="0" anchor="ctr"/>
          <a:lstStyle/>
          <a:p>
            <a:pPr algn="ctr"/>
            <a:r>
              <a:rPr sz="1100" b="0">
                <a:solidFill>
                  <a:srgbClr val="EBEEF5"/>
                </a:solidFill>
                <a:latin typeface="微软雅黑"/>
                <a:ea typeface="微软雅黑"/>
              </a:rPr>
              <a:t>中心格</a:t>
            </a:r>
            <a:endParaRPr sz="110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7918704" y="3611880"/>
            <a:ext cx="1133856" cy="457200"/>
          </a:xfrm>
          <a:prstGeom prst="roundRect">
            <a:avLst/>
          </a:prstGeom>
          <a:solidFill>
            <a:srgbClr val="262C42"/>
          </a:solidFill>
          <a:ln w="12700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8288" rIns="73152" bIns="18288" rtlCol="0" anchor="ctr"/>
          <a:lstStyle/>
          <a:p>
            <a:pPr algn="ctr"/>
            <a:r>
              <a:rPr sz="1100" b="0">
                <a:solidFill>
                  <a:srgbClr val="EBEEF5"/>
                </a:solidFill>
                <a:latin typeface="微软雅黑"/>
                <a:ea typeface="微软雅黑"/>
              </a:rPr>
              <a:t>双向穿口</a:t>
            </a:r>
            <a:endParaRPr sz="110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9162288" y="3611880"/>
            <a:ext cx="1133856" cy="457200"/>
          </a:xfrm>
          <a:prstGeom prst="roundRect">
            <a:avLst/>
          </a:prstGeom>
          <a:solidFill>
            <a:srgbClr val="262C42"/>
          </a:solidFill>
          <a:ln w="12700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8288" rIns="73152" bIns="18288" rtlCol="0" anchor="ctr"/>
          <a:lstStyle/>
          <a:p>
            <a:pPr algn="ctr"/>
            <a:r>
              <a:rPr sz="1100" b="0">
                <a:solidFill>
                  <a:srgbClr val="EBEEF5"/>
                </a:solidFill>
                <a:latin typeface="微软雅黑"/>
                <a:ea typeface="微软雅黑"/>
              </a:rPr>
              <a:t>吞食</a:t>
            </a:r>
            <a:endParaRPr sz="110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10405872" y="3611880"/>
            <a:ext cx="1133856" cy="457200"/>
          </a:xfrm>
          <a:prstGeom prst="roundRect">
            <a:avLst/>
          </a:prstGeom>
          <a:solidFill>
            <a:srgbClr val="262C42"/>
          </a:solidFill>
          <a:ln w="12700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8288" rIns="73152" bIns="18288" rtlCol="0" anchor="ctr"/>
          <a:lstStyle/>
          <a:p>
            <a:pPr algn="ctr"/>
            <a:r>
              <a:rPr lang="zh-CN" sz="1100" b="0">
                <a:solidFill>
                  <a:srgbClr val="EBEEF5"/>
                </a:solidFill>
                <a:latin typeface="微软雅黑"/>
                <a:ea typeface="微软雅黑"/>
              </a:rPr>
              <a:t>对照实验</a:t>
            </a:r>
            <a:endParaRPr sz="110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BEEF5"/>
                </a:solidFill>
                <a:latin typeface="微软雅黑"/>
                <a:ea typeface="微软雅黑"/>
              </a:rPr>
              <a:t>问题解决案例 ② · 可解性交给解算器</a:t>
            </a:r>
            <a:endParaRPr sz="2600" b="1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21207" y="950976"/>
            <a:ext cx="822960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98A2B8"/>
                </a:solidFill>
                <a:latin typeface="微软雅黑"/>
                <a:ea typeface="微软雅黑"/>
              </a:rPr>
              <a:t>董长坤 · 《递归之箱》结课汇报</a:t>
            </a:r>
            <a:endParaRPr sz="900" b="0">
              <a:solidFill>
                <a:srgbClr val="98A2B8"/>
              </a:solidFill>
              <a:latin typeface="微软雅黑"/>
              <a:ea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247120" y="6473952"/>
            <a:ext cx="822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98A2B8"/>
                </a:solidFill>
                <a:latin typeface="微软雅黑"/>
                <a:ea typeface="微软雅黑"/>
              </a:rPr>
              <a:t>8 / 13</a:t>
            </a:r>
            <a:endParaRPr sz="900" b="0">
              <a:solidFill>
                <a:srgbClr val="98A2B8"/>
              </a:solidFill>
              <a:latin typeface="微软雅黑"/>
              <a:ea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5577840" cy="2590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350" b="1">
                <a:solidFill>
                  <a:srgbClr val="F5A623"/>
                </a:solidFill>
                <a:latin typeface="微软雅黑"/>
                <a:ea typeface="微软雅黑"/>
              </a:rPr>
              <a:t>现象</a:t>
            </a:r>
            <a:endParaRPr sz="1600" b="1">
              <a:solidFill>
                <a:srgbClr val="F5A623"/>
              </a:solidFill>
              <a:latin typeface="微软雅黑"/>
              <a:ea typeface="微软雅黑"/>
            </a:endParaRPr>
          </a:p>
          <a:p>
            <a:pPr algn="l">
              <a:spcAft>
                <a:spcPts val="1000"/>
              </a:spcAft>
            </a:pPr>
            <a:r>
              <a:rPr sz="1250" b="0">
                <a:solidFill>
                  <a:srgbClr val="EBEEF5"/>
                </a:solidFill>
                <a:latin typeface="微软雅黑"/>
                <a:ea typeface="微软雅黑"/>
              </a:rPr>
              <a:t>▪  「吞食01」我肉眼分析：箱子推到 (3,4) 后玩家被切断 → 判“无解”</a:t>
            </a:r>
            <a:endParaRPr sz="1300" b="0">
              <a:solidFill>
                <a:srgbClr val="EBEEF5"/>
              </a:solidFill>
              <a:latin typeface="微软雅黑"/>
              <a:ea typeface="微软雅黑"/>
            </a:endParaRPr>
          </a:p>
          <a:p>
            <a:pPr algn="l">
              <a:spcAft>
                <a:spcPts val="1000"/>
              </a:spcAft>
            </a:pPr>
            <a:r>
              <a:rPr sz="1250" b="0">
                <a:solidFill>
                  <a:srgbClr val="EBEEF5"/>
                </a:solidFill>
                <a:latin typeface="微软雅黑"/>
                <a:ea typeface="微软雅黑"/>
              </a:rPr>
              <a:t>▪  但 A 脚下还压着一个 g，胜负条件和我以为的不一样</a:t>
            </a:r>
            <a:endParaRPr sz="1300" b="0">
              <a:solidFill>
                <a:srgbClr val="EBEEF5"/>
              </a:solidFill>
              <a:latin typeface="微软雅黑"/>
              <a:ea typeface="微软雅黑"/>
            </a:endParaRPr>
          </a:p>
          <a:p>
            <a:pPr algn="l">
              <a:spcAft>
                <a:spcPts val="1000"/>
              </a:spcAft>
            </a:pPr>
            <a:r>
              <a:rPr sz="1350" b="1">
                <a:solidFill>
                  <a:srgbClr val="F5A623"/>
                </a:solidFill>
                <a:latin typeface="微软雅黑"/>
                <a:ea typeface="微软雅黑"/>
              </a:rPr>
              <a:t>做法</a:t>
            </a:r>
            <a:endParaRPr sz="1300" b="0">
              <a:solidFill>
                <a:srgbClr val="EBEEF5"/>
              </a:solidFill>
              <a:latin typeface="微软雅黑"/>
              <a:ea typeface="微软雅黑"/>
            </a:endParaRPr>
          </a:p>
          <a:p>
            <a:pPr algn="l">
              <a:spcAft>
                <a:spcPts val="1000"/>
              </a:spcAft>
            </a:pPr>
            <a:r>
              <a:rPr sz="1250" b="1">
                <a:solidFill>
                  <a:srgbClr val="F5A623"/>
                </a:solidFill>
                <a:latin typeface="微软雅黑"/>
                <a:ea typeface="微软雅黑"/>
              </a:rPr>
              <a:t>▪  手解失败 → 写 BFS 解算器：状态哈希去重，逐层搜最短解</a:t>
            </a:r>
            <a:endParaRPr sz="1600" b="1">
              <a:solidFill>
                <a:srgbClr val="F5A623"/>
              </a:solidFill>
              <a:latin typeface="微软雅黑"/>
              <a:ea typeface="微软雅黑"/>
            </a:endParaRPr>
          </a:p>
          <a:p>
            <a:pPr algn="l">
              <a:spcAft>
                <a:spcPts val="1000"/>
              </a:spcAft>
            </a:pPr>
            <a:r>
              <a:rPr sz="1250" b="0">
                <a:solidFill>
                  <a:srgbClr val="EBEEF5"/>
                </a:solidFill>
                <a:latin typeface="微软雅黑"/>
                <a:ea typeface="微软雅黑"/>
              </a:rPr>
              <a:t>▪  解算器给出 21 步解，而且完全绕开“吞食”→ 设计意图没达成</a:t>
            </a:r>
            <a:endParaRPr sz="1300" b="0">
              <a:solidFill>
                <a:srgbClr val="EBEEF5"/>
              </a:solidFill>
              <a:latin typeface="微软雅黑"/>
              <a:ea typeface="微软雅黑"/>
            </a:endParaRPr>
          </a:p>
          <a:p>
            <a:pPr algn="l">
              <a:spcAft>
                <a:spcPts val="1000"/>
              </a:spcAft>
            </a:pPr>
            <a:r>
              <a:rPr sz="1250" b="0">
                <a:solidFill>
                  <a:srgbClr val="EBEEF5"/>
                </a:solidFill>
                <a:latin typeface="微软雅黑"/>
                <a:ea typeface="微软雅黑"/>
              </a:rPr>
              <a:t>▪  顺着这条解追查，发现内层最后一行多了一个口（误加）</a:t>
            </a:r>
            <a:endParaRPr sz="1300" b="0">
              <a:solidFill>
                <a:srgbClr val="EBEEF5"/>
              </a:solidFill>
              <a:latin typeface="微软雅黑"/>
              <a:ea typeface="微软雅黑"/>
            </a:endParaRPr>
          </a:p>
          <a:p>
            <a:pPr algn="l">
              <a:spcAft>
                <a:spcPts val="1000"/>
              </a:spcAft>
            </a:pPr>
            <a:r>
              <a:rPr sz="1350" b="1">
                <a:solidFill>
                  <a:srgbClr val="F5A623"/>
                </a:solidFill>
                <a:latin typeface="微软雅黑"/>
                <a:ea typeface="微软雅黑"/>
              </a:rPr>
              <a:t>结论</a:t>
            </a:r>
            <a:endParaRPr sz="1300" b="0">
              <a:solidFill>
                <a:srgbClr val="EBEEF5"/>
              </a:solidFill>
              <a:latin typeface="微软雅黑"/>
              <a:ea typeface="微软雅黑"/>
            </a:endParaRPr>
          </a:p>
          <a:p>
            <a:pPr algn="l">
              <a:spcAft>
                <a:spcPts val="1000"/>
              </a:spcAft>
            </a:pPr>
            <a:r>
              <a:rPr sz="1250" b="0">
                <a:solidFill>
                  <a:srgbClr val="EBEEF5"/>
                </a:solidFill>
                <a:latin typeface="微软雅黑"/>
                <a:ea typeface="微软雅黑"/>
              </a:rPr>
              <a:t>▪  去掉那个口 → 37 步必吞食解；最短解固化成回归测试</a:t>
            </a:r>
            <a:endParaRPr sz="130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446520" y="1234440"/>
            <a:ext cx="5257800" cy="3337560"/>
          </a:xfrm>
          <a:prstGeom prst="rect">
            <a:avLst/>
          </a:prstGeom>
          <a:solidFill>
            <a:srgbClr val="1C2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389888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BEEF5"/>
                </a:solidFill>
                <a:latin typeface="微软雅黑"/>
                <a:ea typeface="微软雅黑"/>
              </a:rPr>
              <a:t>为什么不再信“我觉得”</a:t>
            </a:r>
            <a:endParaRPr sz="1500" b="1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675120" y="1874519"/>
            <a:ext cx="48463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5A623"/>
                </a:solidFill>
                <a:latin typeface="微软雅黑"/>
                <a:ea typeface="微软雅黑"/>
              </a:rPr>
              <a:t>解算器会算　</a:t>
            </a:r>
            <a:r>
              <a:rPr lang="zh-CN" sz="1300" b="1">
                <a:solidFill>
                  <a:srgbClr val="F5A623"/>
                </a:solidFill>
                <a:latin typeface="微软雅黑"/>
                <a:ea typeface="微软雅黑"/>
              </a:rPr>
              <a:t>有解 / 无解 + 最短步数，两关实测 5 步 / 37 步</a:t>
            </a:r>
            <a:endParaRPr sz="130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675120" y="2468880"/>
            <a:ext cx="484632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69CD6"/>
                </a:solidFill>
                <a:latin typeface="微软雅黑"/>
                <a:ea typeface="微软雅黑"/>
              </a:rPr>
              <a:t>它还会挑错　</a:t>
            </a:r>
            <a:r>
              <a:rPr sz="1300" b="0">
                <a:solidFill>
                  <a:srgbClr val="EBEEF5"/>
                </a:solidFill>
                <a:latin typeface="微软雅黑"/>
                <a:ea typeface="微软雅黑"/>
              </a:rPr>
              <a:t>21 步“隧道解”说明吞食不是必经，暴露口的设计问题</a:t>
            </a:r>
            <a:endParaRPr sz="130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675120" y="3246120"/>
            <a:ext cx="47548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98A2B8"/>
                </a:solidFill>
                <a:latin typeface="微软雅黑"/>
                <a:ea typeface="微软雅黑"/>
              </a:rPr>
              <a:t>关键词</a:t>
            </a:r>
            <a:endParaRPr sz="1200" b="1">
              <a:solidFill>
                <a:srgbClr val="98A2B8"/>
              </a:solidFill>
              <a:latin typeface="微软雅黑"/>
              <a:ea typeface="微软雅黑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675120" y="3611880"/>
            <a:ext cx="1133856" cy="457200"/>
          </a:xfrm>
          <a:prstGeom prst="roundRect">
            <a:avLst/>
          </a:prstGeom>
          <a:solidFill>
            <a:srgbClr val="262C42"/>
          </a:solidFill>
          <a:ln w="12700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8288" rIns="73152" bIns="18288" rtlCol="0" anchor="ctr"/>
          <a:lstStyle/>
          <a:p>
            <a:pPr algn="ctr"/>
            <a:r>
              <a:rPr sz="1100" b="0">
                <a:solidFill>
                  <a:srgbClr val="EBEEF5"/>
                </a:solidFill>
                <a:latin typeface="微软雅黑"/>
                <a:ea typeface="微软雅黑"/>
              </a:rPr>
              <a:t>BFS</a:t>
            </a:r>
            <a:endParaRPr sz="110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7918704" y="3611880"/>
            <a:ext cx="1133856" cy="457200"/>
          </a:xfrm>
          <a:prstGeom prst="roundRect">
            <a:avLst/>
          </a:prstGeom>
          <a:solidFill>
            <a:srgbClr val="262C42"/>
          </a:solidFill>
          <a:ln w="12700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8288" rIns="73152" bIns="18288" rtlCol="0" anchor="ctr"/>
          <a:lstStyle/>
          <a:p>
            <a:pPr algn="ctr"/>
            <a:r>
              <a:rPr sz="1100" b="0">
                <a:solidFill>
                  <a:srgbClr val="EBEEF5"/>
                </a:solidFill>
                <a:latin typeface="微软雅黑"/>
                <a:ea typeface="微软雅黑"/>
              </a:rPr>
              <a:t>状态去重</a:t>
            </a:r>
            <a:endParaRPr sz="110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9162288" y="3611880"/>
            <a:ext cx="1133856" cy="457200"/>
          </a:xfrm>
          <a:prstGeom prst="roundRect">
            <a:avLst/>
          </a:prstGeom>
          <a:solidFill>
            <a:srgbClr val="262C42"/>
          </a:solidFill>
          <a:ln w="12700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8288" rIns="73152" bIns="18288" rtlCol="0" anchor="ctr"/>
          <a:lstStyle/>
          <a:p>
            <a:pPr algn="ctr"/>
            <a:r>
              <a:rPr sz="1100" b="0">
                <a:solidFill>
                  <a:srgbClr val="EBEEF5"/>
                </a:solidFill>
                <a:latin typeface="微软雅黑"/>
                <a:ea typeface="微软雅黑"/>
              </a:rPr>
              <a:t>最短步数</a:t>
            </a:r>
            <a:endParaRPr sz="110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10405872" y="3611880"/>
            <a:ext cx="1133856" cy="457200"/>
          </a:xfrm>
          <a:prstGeom prst="roundRect">
            <a:avLst/>
          </a:prstGeom>
          <a:solidFill>
            <a:srgbClr val="262C42"/>
          </a:solidFill>
          <a:ln w="12700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8288" rIns="73152" bIns="18288" rtlCol="0" anchor="ctr"/>
          <a:lstStyle/>
          <a:p>
            <a:pPr algn="ctr"/>
            <a:r>
              <a:rPr lang="zh-CN" sz="1100" b="0">
                <a:solidFill>
                  <a:srgbClr val="EBEEF5"/>
                </a:solidFill>
                <a:latin typeface="微软雅黑"/>
                <a:ea typeface="微软雅黑"/>
              </a:rPr>
              <a:t>回归测试</a:t>
            </a:r>
            <a:endParaRPr sz="110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BEEF5"/>
                </a:solidFill>
                <a:latin typeface="微软雅黑"/>
                <a:ea typeface="微软雅黑"/>
              </a:rPr>
              <a:t>问题解决案例 ③ · 一个缺陷与一次流程事故</a:t>
            </a:r>
            <a:endParaRPr sz="2600" b="1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21207" y="950976"/>
            <a:ext cx="822960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98A2B8"/>
                </a:solidFill>
                <a:latin typeface="微软雅黑"/>
                <a:ea typeface="微软雅黑"/>
              </a:rPr>
              <a:t>董长坤 · 《递归之箱》结课汇报</a:t>
            </a:r>
            <a:endParaRPr sz="900" b="0">
              <a:solidFill>
                <a:srgbClr val="98A2B8"/>
              </a:solidFill>
              <a:latin typeface="微软雅黑"/>
              <a:ea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247120" y="6473952"/>
            <a:ext cx="822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98A2B8"/>
                </a:solidFill>
                <a:latin typeface="微软雅黑"/>
                <a:ea typeface="微软雅黑"/>
              </a:rPr>
              <a:t>9 / 13</a:t>
            </a:r>
            <a:endParaRPr sz="900" b="0">
              <a:solidFill>
                <a:srgbClr val="98A2B8"/>
              </a:solidFill>
              <a:latin typeface="微软雅黑"/>
              <a:ea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5577840" cy="2590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350" b="1">
                <a:solidFill>
                  <a:srgbClr val="F5A623"/>
                </a:solidFill>
                <a:latin typeface="微软雅黑"/>
                <a:ea typeface="微软雅黑"/>
              </a:rPr>
              <a:t>缺陷：37 步的通关记成了 39 步</a:t>
            </a:r>
            <a:endParaRPr sz="1600" b="1">
              <a:solidFill>
                <a:srgbClr val="F5A623"/>
              </a:solidFill>
              <a:latin typeface="微软雅黑"/>
              <a:ea typeface="微软雅黑"/>
            </a:endParaRPr>
          </a:p>
          <a:p>
            <a:pPr algn="l">
              <a:spcAft>
                <a:spcPts val="1000"/>
              </a:spcAft>
            </a:pPr>
            <a:r>
              <a:rPr sz="1250" b="0">
                <a:solidFill>
                  <a:srgbClr val="EBEEF5"/>
                </a:solidFill>
                <a:latin typeface="微软雅黑"/>
                <a:ea typeface="微软雅黑"/>
              </a:rPr>
              <a:t>▪  回归测试断言 moves == 37 直接失败，失败信息把位置指了出来</a:t>
            </a:r>
            <a:endParaRPr sz="1300" b="0">
              <a:solidFill>
                <a:srgbClr val="EBEEF5"/>
              </a:solidFill>
              <a:latin typeface="微软雅黑"/>
              <a:ea typeface="微软雅黑"/>
            </a:endParaRPr>
          </a:p>
          <a:p>
            <a:pPr algn="l">
              <a:spcAft>
                <a:spcPts val="1000"/>
              </a:spcAft>
            </a:pPr>
            <a:r>
              <a:rPr sz="1250" b="0">
                <a:solidFill>
                  <a:srgbClr val="EBEEF5"/>
                </a:solidFill>
                <a:latin typeface="微软雅黑"/>
                <a:ea typeface="微软雅黑"/>
              </a:rPr>
              <a:t>▪  根因：搬运 / 推出路径上 nested.py 与 logic.py 各加了一次步数</a:t>
            </a:r>
            <a:endParaRPr sz="1300" b="0">
              <a:solidFill>
                <a:srgbClr val="EBEEF5"/>
              </a:solidFill>
              <a:latin typeface="微软雅黑"/>
              <a:ea typeface="微软雅黑"/>
            </a:endParaRPr>
          </a:p>
          <a:p>
            <a:pPr algn="l">
              <a:spcAft>
                <a:spcPts val="1000"/>
              </a:spcAft>
            </a:pPr>
            <a:r>
              <a:rPr sz="1250" b="0">
                <a:solidFill>
                  <a:srgbClr val="EBEEF5"/>
                </a:solidFill>
                <a:latin typeface="微软雅黑"/>
                <a:ea typeface="微软雅黑"/>
              </a:rPr>
              <a:t>▪  修法：计数只由 logic.move() 的 _accepted() 负责，补对应用例</a:t>
            </a:r>
            <a:endParaRPr sz="1300" b="0">
              <a:solidFill>
                <a:srgbClr val="EBEEF5"/>
              </a:solidFill>
              <a:latin typeface="微软雅黑"/>
              <a:ea typeface="微软雅黑"/>
            </a:endParaRPr>
          </a:p>
          <a:p>
            <a:pPr algn="l">
              <a:spcAft>
                <a:spcPts val="1000"/>
              </a:spcAft>
            </a:pPr>
            <a:r>
              <a:rPr sz="1350" b="1">
                <a:solidFill>
                  <a:srgbClr val="F5A623"/>
                </a:solidFill>
                <a:latin typeface="微软雅黑"/>
                <a:ea typeface="微软雅黑"/>
              </a:rPr>
              <a:t>事故：测试红了，提交却成功了</a:t>
            </a:r>
            <a:endParaRPr sz="1600" b="1">
              <a:solidFill>
                <a:srgbClr val="F5A623"/>
              </a:solidFill>
              <a:latin typeface="微软雅黑"/>
              <a:ea typeface="微软雅黑"/>
            </a:endParaRPr>
          </a:p>
          <a:p>
            <a:pPr algn="l">
              <a:spcAft>
                <a:spcPts val="1000"/>
              </a:spcAft>
            </a:pPr>
            <a:r>
              <a:rPr sz="1250" b="0">
                <a:solidFill>
                  <a:srgbClr val="EBEEF5"/>
                </a:solidFill>
                <a:latin typeface="微软雅黑"/>
                <a:ea typeface="微软雅黑"/>
              </a:rPr>
              <a:t>▪  “改代码 → 跑测试 → 提交”串成一条命令，测试退出码被管道吞掉</a:t>
            </a:r>
            <a:endParaRPr sz="1300" b="0">
              <a:solidFill>
                <a:srgbClr val="EBEEF5"/>
              </a:solidFill>
              <a:latin typeface="微软雅黑"/>
              <a:ea typeface="微软雅黑"/>
            </a:endParaRPr>
          </a:p>
          <a:p>
            <a:pPr algn="l">
              <a:spcAft>
                <a:spcPts val="1000"/>
              </a:spcAft>
            </a:pPr>
            <a:r>
              <a:rPr sz="1250" b="0">
                <a:solidFill>
                  <a:srgbClr val="EBEEF5"/>
                </a:solidFill>
                <a:latin typeface="微软雅黑"/>
                <a:ea typeface="微软雅黑"/>
              </a:rPr>
              <a:t>▪  结果提交了一个不一致的状态 → 立刻 git commit --amend 补正</a:t>
            </a:r>
            <a:endParaRPr sz="1300" b="0">
              <a:solidFill>
                <a:srgbClr val="EBEEF5"/>
              </a:solidFill>
              <a:latin typeface="微软雅黑"/>
              <a:ea typeface="微软雅黑"/>
            </a:endParaRPr>
          </a:p>
          <a:p>
            <a:pPr algn="l">
              <a:spcAft>
                <a:spcPts val="1000"/>
              </a:spcAft>
            </a:pPr>
            <a:r>
              <a:rPr sz="1250" b="0">
                <a:solidFill>
                  <a:srgbClr val="EBEEF5"/>
                </a:solidFill>
                <a:latin typeface="微软雅黑"/>
                <a:ea typeface="微软雅黑"/>
              </a:rPr>
              <a:t>▪  教训：验收与提交分开执行，退出码必须看（现在手动分步跑）</a:t>
            </a:r>
            <a:endParaRPr sz="130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446520" y="1234440"/>
            <a:ext cx="5257800" cy="3337560"/>
          </a:xfrm>
          <a:prstGeom prst="rect">
            <a:avLst/>
          </a:prstGeom>
          <a:solidFill>
            <a:srgbClr val="1C2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389888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BEEF5"/>
                </a:solidFill>
                <a:latin typeface="微软雅黑"/>
                <a:ea typeface="微软雅黑"/>
              </a:rPr>
              <a:t>沉淀下来的习惯</a:t>
            </a:r>
            <a:endParaRPr sz="1500" b="1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675120" y="1874519"/>
            <a:ext cx="48463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5A623"/>
                </a:solidFill>
                <a:latin typeface="微软雅黑"/>
                <a:ea typeface="微软雅黑"/>
              </a:rPr>
              <a:t>断言要具体　</a:t>
            </a:r>
            <a:r>
              <a:rPr lang="zh-CN" sz="1300" b="1">
                <a:solidFill>
                  <a:srgbClr val="F5A623"/>
                </a:solidFill>
                <a:latin typeface="微软雅黑"/>
                <a:ea typeface="微软雅黑"/>
              </a:rPr>
              <a:t>写清步数与坐标，失败时能直接定位根因</a:t>
            </a:r>
            <a:endParaRPr sz="130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675120" y="2468880"/>
            <a:ext cx="484632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69CD6"/>
                </a:solidFill>
                <a:latin typeface="微软雅黑"/>
                <a:ea typeface="微软雅黑"/>
              </a:rPr>
              <a:t>流水线要有断点　</a:t>
            </a:r>
            <a:r>
              <a:rPr sz="1300" b="0">
                <a:solidFill>
                  <a:srgbClr val="EBEEF5"/>
                </a:solidFill>
                <a:latin typeface="微软雅黑"/>
                <a:ea typeface="微软雅黑"/>
              </a:rPr>
              <a:t>跑测试和提交分开，退出码为 0 才算过</a:t>
            </a:r>
            <a:endParaRPr sz="130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675120" y="3246120"/>
            <a:ext cx="47548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98A2B8"/>
                </a:solidFill>
                <a:latin typeface="微软雅黑"/>
                <a:ea typeface="微软雅黑"/>
              </a:rPr>
              <a:t>关键词</a:t>
            </a:r>
            <a:endParaRPr sz="1200" b="1">
              <a:solidFill>
                <a:srgbClr val="98A2B8"/>
              </a:solidFill>
              <a:latin typeface="微软雅黑"/>
              <a:ea typeface="微软雅黑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675120" y="3611880"/>
            <a:ext cx="1133856" cy="457200"/>
          </a:xfrm>
          <a:prstGeom prst="roundRect">
            <a:avLst/>
          </a:prstGeom>
          <a:solidFill>
            <a:srgbClr val="262C42"/>
          </a:solidFill>
          <a:ln w="12700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8288" rIns="73152" bIns="18288" rtlCol="0" anchor="ctr"/>
          <a:lstStyle/>
          <a:p>
            <a:pPr algn="ctr"/>
            <a:r>
              <a:rPr sz="1100" b="0">
                <a:solidFill>
                  <a:srgbClr val="EBEEF5"/>
                </a:solidFill>
                <a:latin typeface="微软雅黑"/>
                <a:ea typeface="微软雅黑"/>
              </a:rPr>
              <a:t>回归用例</a:t>
            </a:r>
            <a:endParaRPr sz="110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7918704" y="3611880"/>
            <a:ext cx="1133856" cy="457200"/>
          </a:xfrm>
          <a:prstGeom prst="roundRect">
            <a:avLst/>
          </a:prstGeom>
          <a:solidFill>
            <a:srgbClr val="262C42"/>
          </a:solidFill>
          <a:ln w="12700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8288" rIns="73152" bIns="18288" rtlCol="0" anchor="ctr"/>
          <a:lstStyle/>
          <a:p>
            <a:pPr algn="ctr"/>
            <a:r>
              <a:rPr sz="1100" b="0">
                <a:solidFill>
                  <a:srgbClr val="EBEEF5"/>
                </a:solidFill>
                <a:latin typeface="微软雅黑"/>
                <a:ea typeface="微软雅黑"/>
              </a:rPr>
              <a:t>退出码</a:t>
            </a:r>
            <a:endParaRPr sz="110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9162288" y="3611880"/>
            <a:ext cx="1133856" cy="457200"/>
          </a:xfrm>
          <a:prstGeom prst="roundRect">
            <a:avLst/>
          </a:prstGeom>
          <a:solidFill>
            <a:srgbClr val="262C42"/>
          </a:solidFill>
          <a:ln w="12700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8288" rIns="73152" bIns="18288" rtlCol="0" anchor="ctr"/>
          <a:lstStyle/>
          <a:p>
            <a:pPr algn="ctr"/>
            <a:r>
              <a:rPr sz="1100" b="0">
                <a:solidFill>
                  <a:srgbClr val="EBEEF5"/>
                </a:solidFill>
                <a:latin typeface="微软雅黑"/>
                <a:ea typeface="微软雅黑"/>
              </a:rPr>
              <a:t>小步提交</a:t>
            </a:r>
            <a:endParaRPr sz="110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10405872" y="3611880"/>
            <a:ext cx="1133856" cy="457200"/>
          </a:xfrm>
          <a:prstGeom prst="roundRect">
            <a:avLst/>
          </a:prstGeom>
          <a:solidFill>
            <a:srgbClr val="262C42"/>
          </a:solidFill>
          <a:ln w="12700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8288" rIns="73152" bIns="18288" rtlCol="0" anchor="ctr"/>
          <a:lstStyle/>
          <a:p>
            <a:pPr algn="ctr"/>
            <a:r>
              <a:rPr lang="zh-CN" sz="1100" b="0">
                <a:solidFill>
                  <a:srgbClr val="EBEEF5"/>
                </a:solidFill>
                <a:latin typeface="微软雅黑"/>
                <a:ea typeface="微软雅黑"/>
              </a:rPr>
              <a:t>amend 修正</a:t>
            </a:r>
            <a:endParaRPr sz="110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BEEF5"/>
                </a:solidFill>
                <a:latin typeface="微软雅黑"/>
                <a:ea typeface="微软雅黑"/>
              </a:rPr>
              <a:t>关键算法 · 一次按键的完整判定</a:t>
            </a:r>
            <a:endParaRPr sz="2600" b="1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21207" y="950976"/>
            <a:ext cx="822960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98A2B8"/>
                </a:solidFill>
                <a:latin typeface="微软雅黑"/>
                <a:ea typeface="微软雅黑"/>
              </a:rPr>
              <a:t>董长坤 · 《递归之箱》结课汇报</a:t>
            </a:r>
            <a:endParaRPr sz="900" b="0">
              <a:solidFill>
                <a:srgbClr val="98A2B8"/>
              </a:solidFill>
              <a:latin typeface="微软雅黑"/>
              <a:ea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247120" y="6473952"/>
            <a:ext cx="822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98A2B8"/>
                </a:solidFill>
                <a:latin typeface="微软雅黑"/>
                <a:ea typeface="微软雅黑"/>
              </a:rPr>
              <a:t>10 / 13</a:t>
            </a:r>
            <a:endParaRPr sz="900" b="0">
              <a:solidFill>
                <a:srgbClr val="98A2B8"/>
              </a:solidFill>
              <a:latin typeface="微软雅黑"/>
              <a:ea typeface="微软雅黑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522208" y="1225296"/>
            <a:ext cx="3182112" cy="3017520"/>
          </a:xfrm>
          <a:prstGeom prst="rect">
            <a:avLst/>
          </a:prstGeom>
          <a:solidFill>
            <a:srgbClr val="1C2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0" y="1335024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BEEF5"/>
                </a:solidFill>
                <a:latin typeface="微软雅黑"/>
                <a:ea typeface="微软雅黑"/>
              </a:rPr>
              <a:t>分支顺序 = 规则优先级</a:t>
            </a:r>
            <a:endParaRPr sz="1500" b="1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686800" y="1783080"/>
            <a:ext cx="2852928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5A623"/>
                </a:solidFill>
                <a:latin typeface="微软雅黑"/>
                <a:ea typeface="微软雅黑"/>
              </a:rPr>
              <a:t>先判口　</a:t>
            </a:r>
            <a:r>
              <a:rPr lang="zh-CN" sz="1300" b="1">
                <a:solidFill>
                  <a:srgbClr val="F5A623"/>
                </a:solidFill>
                <a:latin typeface="微软雅黑"/>
                <a:ea typeface="微软雅黑"/>
              </a:rPr>
              <a:t>站在口格朝外走 = 退出内层</a:t>
            </a:r>
            <a:endParaRPr sz="130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686800" y="2606040"/>
            <a:ext cx="2852928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69CD6"/>
                </a:solidFill>
                <a:latin typeface="微软雅黑"/>
                <a:ea typeface="微软雅黑"/>
              </a:rPr>
              <a:t>再判碰撞　</a:t>
            </a:r>
            <a:r>
              <a:rPr sz="1300" b="0">
                <a:solidFill>
                  <a:srgbClr val="EBEEF5"/>
                </a:solidFill>
                <a:latin typeface="微软雅黑"/>
                <a:ea typeface="微软雅黑"/>
              </a:rPr>
              <a:t>墙 → 不动；空格 → 走一格</a:t>
            </a:r>
            <a:endParaRPr sz="130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686800" y="3310128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98A2B8"/>
                </a:solidFill>
                <a:latin typeface="微软雅黑"/>
                <a:ea typeface="微软雅黑"/>
              </a:rPr>
              <a:t>被拒绝的操作</a:t>
            </a:r>
            <a:endParaRPr sz="1200" b="1">
              <a:solidFill>
                <a:srgbClr val="98A2B8"/>
              </a:solidFill>
              <a:latin typeface="微软雅黑"/>
              <a:ea typeface="微软雅黑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8686800" y="3611880"/>
            <a:ext cx="1170432" cy="411480"/>
          </a:xfrm>
          <a:prstGeom prst="roundRect">
            <a:avLst/>
          </a:prstGeom>
          <a:solidFill>
            <a:srgbClr val="262C42"/>
          </a:solidFill>
          <a:ln w="12700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8288" rIns="73152" bIns="18288" rtlCol="0" anchor="ctr"/>
          <a:lstStyle/>
          <a:p>
            <a:pPr algn="ctr"/>
            <a:r>
              <a:rPr sz="1100" b="0">
                <a:solidFill>
                  <a:srgbClr val="EBEEF5"/>
                </a:solidFill>
                <a:latin typeface="微软雅黑"/>
                <a:ea typeface="微软雅黑"/>
              </a:rPr>
              <a:t>不记步数</a:t>
            </a:r>
            <a:endParaRPr sz="110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9966960" y="3611880"/>
            <a:ext cx="1170432" cy="411480"/>
          </a:xfrm>
          <a:prstGeom prst="roundRect">
            <a:avLst/>
          </a:prstGeom>
          <a:solidFill>
            <a:srgbClr val="262C42"/>
          </a:solidFill>
          <a:ln w="12700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8288" rIns="73152" bIns="18288" rtlCol="0" anchor="ctr"/>
          <a:lstStyle/>
          <a:p>
            <a:pPr algn="ctr"/>
            <a:r>
              <a:rPr sz="1100" b="0">
                <a:solidFill>
                  <a:srgbClr val="EBEEF5"/>
                </a:solidFill>
                <a:latin typeface="微软雅黑"/>
                <a:ea typeface="微软雅黑"/>
              </a:rPr>
              <a:t>不进撤销</a:t>
            </a:r>
            <a:endParaRPr sz="110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8686800" y="4087368"/>
            <a:ext cx="1170432" cy="411480"/>
          </a:xfrm>
          <a:prstGeom prst="roundRect">
            <a:avLst/>
          </a:prstGeom>
          <a:solidFill>
            <a:srgbClr val="262C42"/>
          </a:solidFill>
          <a:ln w="12700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8288" rIns="73152" bIns="18288" rtlCol="0" anchor="ctr"/>
          <a:lstStyle/>
          <a:p>
            <a:pPr algn="ctr"/>
            <a:r>
              <a:rPr sz="1100" b="0">
                <a:solidFill>
                  <a:srgbClr val="EBEEF5"/>
                </a:solidFill>
                <a:latin typeface="微软雅黑"/>
                <a:ea typeface="微软雅黑"/>
              </a:rPr>
              <a:t>状态不变</a:t>
            </a:r>
            <a:endParaRPr sz="110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9966960" y="4087368"/>
            <a:ext cx="1170432" cy="411480"/>
          </a:xfrm>
          <a:prstGeom prst="roundRect">
            <a:avLst/>
          </a:prstGeom>
          <a:solidFill>
            <a:srgbClr val="262C42"/>
          </a:solidFill>
          <a:ln w="12700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8288" rIns="73152" bIns="18288" rtlCol="0" anchor="ctr"/>
          <a:lstStyle/>
          <a:p>
            <a:pPr algn="ctr"/>
            <a:r>
              <a:rPr lang="zh-CN" sz="1100" b="0">
                <a:solidFill>
                  <a:srgbClr val="EBEEF5"/>
                </a:solidFill>
                <a:latin typeface="微软雅黑"/>
                <a:ea typeface="微软雅黑"/>
              </a:rPr>
              <a:t>可重试</a:t>
            </a:r>
            <a:endParaRPr sz="110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686800" y="4846320"/>
            <a:ext cx="2880360" cy="10789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F5A623"/>
                </a:solidFill>
                <a:latin typeface="微软雅黑"/>
                <a:ea typeface="微软雅黑"/>
              </a:rPr>
              <a:t>六条分支全部有单元测试覆盖</a:t>
            </a:r>
            <a:endParaRPr sz="1200" b="1">
              <a:solidFill>
                <a:srgbClr val="98A2B8"/>
              </a:solidFill>
              <a:latin typeface="微软雅黑"/>
              <a:ea typeface="微软雅黑"/>
            </a:endParaRP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98A2B8"/>
                </a:solidFill>
                <a:latin typeface="微软雅黑"/>
                <a:ea typeface="微软雅黑"/>
              </a:rPr>
              <a:t>① 退出内层 ② 撞墙 ③ 走一格</a:t>
            </a:r>
            <a:endParaRPr sz="1200" b="1">
              <a:solidFill>
                <a:srgbClr val="98A2B8"/>
              </a:solidFill>
              <a:latin typeface="微软雅黑"/>
              <a:ea typeface="微软雅黑"/>
            </a:endParaRP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98A2B8"/>
                </a:solidFill>
                <a:latin typeface="微软雅黑"/>
                <a:ea typeface="微软雅黑"/>
              </a:rPr>
              <a:t>④ 整链前进 ⑤ 吸入 ⑥ 进入箱子</a:t>
            </a:r>
            <a:endParaRPr sz="1200" b="1">
              <a:solidFill>
                <a:srgbClr val="98A2B8"/>
              </a:solidFill>
              <a:latin typeface="微软雅黑"/>
              <a:ea typeface="微软雅黑"/>
            </a:endParaRP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98A2B8"/>
                </a:solidFill>
                <a:latin typeface="微软雅黑"/>
                <a:ea typeface="微软雅黑"/>
              </a:rPr>
              <a:t>⑦ 否则状态不变（操作被拒绝）</a:t>
            </a:r>
            <a:endParaRPr sz="1200" b="1">
              <a:solidFill>
                <a:srgbClr val="98A2B8"/>
              </a:solidFill>
              <a:latin typeface="微软雅黑"/>
              <a:ea typeface="微软雅黑"/>
            </a:endParaRPr>
          </a:p>
        </p:txBody>
      </p:sp>
      <p:pic>
        <p:nvPicPr>
          <p:cNvPr id="16" name="Picture 15" descr="flow_mo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188720"/>
            <a:ext cx="7882127" cy="4926329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BEEF5"/>
                </a:solidFill>
                <a:latin typeface="微软雅黑"/>
                <a:ea typeface="微软雅黑"/>
              </a:rPr>
              <a:t>AI 产出的验收体系</a:t>
            </a:r>
            <a:endParaRPr sz="2600" b="1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21207" y="950976"/>
            <a:ext cx="822960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98A2B8"/>
                </a:solidFill>
                <a:latin typeface="微软雅黑"/>
                <a:ea typeface="微软雅黑"/>
              </a:rPr>
              <a:t>董长坤 · 《递归之箱》结课汇报</a:t>
            </a:r>
            <a:endParaRPr sz="900" b="0">
              <a:solidFill>
                <a:srgbClr val="98A2B8"/>
              </a:solidFill>
              <a:latin typeface="微软雅黑"/>
              <a:ea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247120" y="6473952"/>
            <a:ext cx="822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98A2B8"/>
                </a:solidFill>
                <a:latin typeface="微软雅黑"/>
                <a:ea typeface="微软雅黑"/>
              </a:rPr>
              <a:t>11 / 13</a:t>
            </a:r>
            <a:endParaRPr sz="900" b="0">
              <a:solidFill>
                <a:srgbClr val="98A2B8"/>
              </a:solidFill>
              <a:latin typeface="微软雅黑"/>
              <a:ea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5577840" cy="2590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350" b="1">
                <a:solidFill>
                  <a:srgbClr val="F5A623"/>
                </a:solidFill>
                <a:latin typeface="微软雅黑"/>
                <a:ea typeface="微软雅黑"/>
              </a:rPr>
              <a:t>为什么必须自动化</a:t>
            </a:r>
            <a:endParaRPr sz="1600" b="1">
              <a:solidFill>
                <a:srgbClr val="F5A623"/>
              </a:solidFill>
              <a:latin typeface="微软雅黑"/>
              <a:ea typeface="微软雅黑"/>
            </a:endParaRPr>
          </a:p>
          <a:p>
            <a:pPr algn="l">
              <a:spcAft>
                <a:spcPts val="1000"/>
              </a:spcAft>
            </a:pPr>
            <a:r>
              <a:rPr sz="1250" b="0">
                <a:solidFill>
                  <a:srgbClr val="EBEEF5"/>
                </a:solidFill>
                <a:latin typeface="微软雅黑"/>
                <a:ea typeface="微软雅黑"/>
              </a:rPr>
              <a:t>▪  AI 看不到画面、也说不出“手感不对”，验收只能变成可执行的断言</a:t>
            </a:r>
            <a:endParaRPr sz="1300" b="0">
              <a:solidFill>
                <a:srgbClr val="EBEEF5"/>
              </a:solidFill>
              <a:latin typeface="微软雅黑"/>
              <a:ea typeface="微软雅黑"/>
            </a:endParaRPr>
          </a:p>
          <a:p>
            <a:pPr algn="l">
              <a:spcAft>
                <a:spcPts val="1000"/>
              </a:spcAft>
            </a:pPr>
            <a:r>
              <a:rPr sz="1350" b="1">
                <a:solidFill>
                  <a:srgbClr val="F5A623"/>
                </a:solidFill>
                <a:latin typeface="微软雅黑"/>
                <a:ea typeface="微软雅黑"/>
              </a:rPr>
              <a:t>四道闸门（108 例 / 1043 行）</a:t>
            </a:r>
            <a:endParaRPr sz="1300" b="0">
              <a:solidFill>
                <a:srgbClr val="EBEEF5"/>
              </a:solidFill>
              <a:latin typeface="微软雅黑"/>
              <a:ea typeface="微软雅黑"/>
            </a:endParaRPr>
          </a:p>
          <a:p>
            <a:pPr algn="l">
              <a:spcAft>
                <a:spcPts val="1000"/>
              </a:spcAft>
            </a:pPr>
            <a:r>
              <a:rPr sz="1250" b="0">
                <a:solidFill>
                  <a:srgbClr val="EBEEF5"/>
                </a:solidFill>
                <a:latin typeface="微软雅黑"/>
                <a:ea typeface="微软雅黑"/>
              </a:rPr>
              <a:t>▪  规则 41：推箱 / 链推动 / 吸入 / 进出 / 双向穿口 / 自引用 / 胜判</a:t>
            </a:r>
            <a:endParaRPr sz="1300" b="0">
              <a:solidFill>
                <a:srgbClr val="EBEEF5"/>
              </a:solidFill>
              <a:latin typeface="微软雅黑"/>
              <a:ea typeface="微软雅黑"/>
            </a:endParaRPr>
          </a:p>
          <a:p>
            <a:pPr algn="l">
              <a:spcAft>
                <a:spcPts val="1000"/>
              </a:spcAft>
            </a:pPr>
            <a:r>
              <a:rPr sz="1250" b="1">
                <a:solidFill>
                  <a:srgbClr val="F5A623"/>
                </a:solidFill>
                <a:latin typeface="微软雅黑"/>
                <a:ea typeface="微软雅黑"/>
              </a:rPr>
              <a:t>▪  数据 44：关卡解析与非法数据 / 口规则 / 嵌套校验 / 目标点统计</a:t>
            </a:r>
            <a:endParaRPr sz="1600" b="1">
              <a:solidFill>
                <a:srgbClr val="F5A623"/>
              </a:solidFill>
              <a:latin typeface="微软雅黑"/>
              <a:ea typeface="微软雅黑"/>
            </a:endParaRPr>
          </a:p>
          <a:p>
            <a:pPr algn="l">
              <a:spcAft>
                <a:spcPts val="1000"/>
              </a:spcAft>
            </a:pPr>
            <a:r>
              <a:rPr sz="1250" b="0">
                <a:solidFill>
                  <a:srgbClr val="EBEEF5"/>
                </a:solidFill>
                <a:latin typeface="微软雅黑"/>
                <a:ea typeface="微软雅黑"/>
              </a:rPr>
              <a:t>▪  渲染 23：色板与技能文档逐值一致 / 对比度阈值 / 渲染只读 / 选关</a:t>
            </a:r>
            <a:endParaRPr sz="1300" b="0">
              <a:solidFill>
                <a:srgbClr val="EBEEF5"/>
              </a:solidFill>
              <a:latin typeface="微软雅黑"/>
              <a:ea typeface="微软雅黑"/>
            </a:endParaRPr>
          </a:p>
          <a:p>
            <a:pPr algn="l">
              <a:spcAft>
                <a:spcPts val="1000"/>
              </a:spcAft>
            </a:pPr>
            <a:r>
              <a:rPr sz="1250" b="0">
                <a:solidFill>
                  <a:srgbClr val="EBEEF5"/>
                </a:solidFill>
                <a:latin typeface="微软雅黑"/>
                <a:ea typeface="微软雅黑"/>
              </a:rPr>
              <a:t>▪  解算器：两关最短解（5 步 / 37 步），关卡被改坏立刻报红</a:t>
            </a:r>
            <a:endParaRPr sz="1300" b="0">
              <a:solidFill>
                <a:srgbClr val="EBEEF5"/>
              </a:solidFill>
              <a:latin typeface="微软雅黑"/>
              <a:ea typeface="微软雅黑"/>
            </a:endParaRPr>
          </a:p>
          <a:p>
            <a:pPr algn="l">
              <a:spcAft>
                <a:spcPts val="1000"/>
              </a:spcAft>
            </a:pPr>
            <a:r>
              <a:rPr sz="1350" b="1">
                <a:solidFill>
                  <a:srgbClr val="F5A623"/>
                </a:solidFill>
                <a:latin typeface="微软雅黑"/>
                <a:ea typeface="微软雅黑"/>
              </a:rPr>
              <a:t>文档也被测试管着</a:t>
            </a:r>
            <a:endParaRPr sz="1300" b="0">
              <a:solidFill>
                <a:srgbClr val="EBEEF5"/>
              </a:solidFill>
              <a:latin typeface="微软雅黑"/>
              <a:ea typeface="微软雅黑"/>
            </a:endParaRPr>
          </a:p>
          <a:p>
            <a:pPr algn="l">
              <a:spcAft>
                <a:spcPts val="1000"/>
              </a:spcAft>
            </a:pPr>
            <a:r>
              <a:rPr sz="1250" b="0">
                <a:solidFill>
                  <a:srgbClr val="EBEEF5"/>
                </a:solidFill>
                <a:latin typeface="微软雅黑"/>
                <a:ea typeface="微软雅黑"/>
              </a:rPr>
              <a:t>▪  改了技能文档里的颜色，测试会要求实现同步；反之亦然</a:t>
            </a:r>
            <a:endParaRPr sz="130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446520" y="1234440"/>
            <a:ext cx="5257800" cy="3337560"/>
          </a:xfrm>
          <a:prstGeom prst="rect">
            <a:avLst/>
          </a:prstGeom>
          <a:solidFill>
            <a:srgbClr val="1C2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389888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BEEF5"/>
                </a:solidFill>
                <a:latin typeface="微软雅黑"/>
                <a:ea typeface="微软雅黑"/>
              </a:rPr>
              <a:t>一条命令验收</a:t>
            </a:r>
            <a:endParaRPr sz="1500" b="1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675120" y="1874519"/>
            <a:ext cx="48463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5A623"/>
                </a:solidFill>
                <a:latin typeface="微软雅黑"/>
                <a:ea typeface="微软雅黑"/>
              </a:rPr>
              <a:t>命令　</a:t>
            </a:r>
            <a:r>
              <a:rPr lang="zh-CN" sz="1300" b="1">
                <a:solidFill>
                  <a:srgbClr val="F5A623"/>
                </a:solidFill>
                <a:latin typeface="微软雅黑"/>
                <a:ea typeface="微软雅黑"/>
              </a:rPr>
              <a:t>.venv/bin/python -m unittest discover tests -v</a:t>
            </a:r>
            <a:endParaRPr sz="130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675120" y="2468880"/>
            <a:ext cx="484632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69CD6"/>
                </a:solidFill>
                <a:latin typeface="微软雅黑"/>
                <a:ea typeface="微软雅黑"/>
              </a:rPr>
              <a:t>标准　</a:t>
            </a:r>
            <a:r>
              <a:rPr sz="1300" b="0">
                <a:solidFill>
                  <a:srgbClr val="EBEEF5"/>
                </a:solidFill>
                <a:latin typeface="微软雅黑"/>
                <a:ea typeface="微软雅黑"/>
              </a:rPr>
              <a:t>108 / 108 通过；任何一项红都不提交</a:t>
            </a:r>
            <a:endParaRPr sz="130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675120" y="3246120"/>
            <a:ext cx="47548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98A2B8"/>
                </a:solidFill>
                <a:latin typeface="微软雅黑"/>
                <a:ea typeface="微软雅黑"/>
              </a:rPr>
              <a:t>关键词</a:t>
            </a:r>
            <a:endParaRPr sz="1200" b="1">
              <a:solidFill>
                <a:srgbClr val="98A2B8"/>
              </a:solidFill>
              <a:latin typeface="微软雅黑"/>
              <a:ea typeface="微软雅黑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675120" y="3611880"/>
            <a:ext cx="1133856" cy="457200"/>
          </a:xfrm>
          <a:prstGeom prst="roundRect">
            <a:avLst/>
          </a:prstGeom>
          <a:solidFill>
            <a:srgbClr val="262C42"/>
          </a:solidFill>
          <a:ln w="12700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8288" rIns="73152" bIns="18288" rtlCol="0" anchor="ctr"/>
          <a:lstStyle/>
          <a:p>
            <a:pPr algn="ctr"/>
            <a:r>
              <a:rPr sz="1100" b="0">
                <a:solidFill>
                  <a:srgbClr val="EBEEF5"/>
                </a:solidFill>
                <a:latin typeface="微软雅黑"/>
                <a:ea typeface="微软雅黑"/>
              </a:rPr>
              <a:t>108 例</a:t>
            </a:r>
            <a:endParaRPr sz="110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7918704" y="3611880"/>
            <a:ext cx="1133856" cy="457200"/>
          </a:xfrm>
          <a:prstGeom prst="roundRect">
            <a:avLst/>
          </a:prstGeom>
          <a:solidFill>
            <a:srgbClr val="262C42"/>
          </a:solidFill>
          <a:ln w="12700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8288" rIns="73152" bIns="18288" rtlCol="0" anchor="ctr"/>
          <a:lstStyle/>
          <a:p>
            <a:pPr algn="ctr"/>
            <a:r>
              <a:rPr sz="1100" b="0">
                <a:solidFill>
                  <a:srgbClr val="EBEEF5"/>
                </a:solidFill>
                <a:latin typeface="微软雅黑"/>
                <a:ea typeface="微软雅黑"/>
              </a:rPr>
              <a:t>文档一致性</a:t>
            </a:r>
            <a:endParaRPr sz="110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9162288" y="3611880"/>
            <a:ext cx="1133856" cy="457200"/>
          </a:xfrm>
          <a:prstGeom prst="roundRect">
            <a:avLst/>
          </a:prstGeom>
          <a:solidFill>
            <a:srgbClr val="262C42"/>
          </a:solidFill>
          <a:ln w="12700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8288" rIns="73152" bIns="18288" rtlCol="0" anchor="ctr"/>
          <a:lstStyle/>
          <a:p>
            <a:pPr algn="ctr"/>
            <a:r>
              <a:rPr sz="1100" b="0">
                <a:solidFill>
                  <a:srgbClr val="EBEEF5"/>
                </a:solidFill>
                <a:latin typeface="微软雅黑"/>
                <a:ea typeface="微软雅黑"/>
              </a:rPr>
              <a:t>对比度</a:t>
            </a:r>
            <a:endParaRPr sz="110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10405872" y="3611880"/>
            <a:ext cx="1133856" cy="457200"/>
          </a:xfrm>
          <a:prstGeom prst="roundRect">
            <a:avLst/>
          </a:prstGeom>
          <a:solidFill>
            <a:srgbClr val="262C42"/>
          </a:solidFill>
          <a:ln w="12700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8288" rIns="73152" bIns="18288" rtlCol="0" anchor="ctr"/>
          <a:lstStyle/>
          <a:p>
            <a:pPr algn="ctr"/>
            <a:r>
              <a:rPr lang="zh-CN" sz="1100" b="0">
                <a:solidFill>
                  <a:srgbClr val="EBEEF5"/>
                </a:solidFill>
                <a:latin typeface="微软雅黑"/>
                <a:ea typeface="微软雅黑"/>
              </a:rPr>
              <a:t>可解性</a:t>
            </a:r>
            <a:endParaRPr sz="110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BEEF5"/>
                </a:solidFill>
                <a:latin typeface="微软雅黑"/>
                <a:ea typeface="微软雅黑"/>
              </a:rPr>
              <a:t>项目目标达成情况</a:t>
            </a:r>
            <a:endParaRPr sz="2600" b="1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21207" y="950976"/>
            <a:ext cx="822960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98A2B8"/>
                </a:solidFill>
                <a:latin typeface="微软雅黑"/>
                <a:ea typeface="微软雅黑"/>
              </a:rPr>
              <a:t>董长坤 · 《递归之箱》结课汇报</a:t>
            </a:r>
            <a:endParaRPr sz="900" b="0">
              <a:solidFill>
                <a:srgbClr val="98A2B8"/>
              </a:solidFill>
              <a:latin typeface="微软雅黑"/>
              <a:ea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247120" y="6473952"/>
            <a:ext cx="822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98A2B8"/>
                </a:solidFill>
                <a:latin typeface="微软雅黑"/>
                <a:ea typeface="微软雅黑"/>
              </a:rPr>
              <a:t>12 / 13</a:t>
            </a:r>
            <a:endParaRPr sz="900" b="0">
              <a:solidFill>
                <a:srgbClr val="98A2B8"/>
              </a:solidFill>
              <a:latin typeface="微软雅黑"/>
              <a:ea typeface="微软雅黑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02920" y="1234440"/>
            <a:ext cx="2286000" cy="411480"/>
          </a:xfrm>
          <a:prstGeom prst="rect">
            <a:avLst/>
          </a:prstGeom>
          <a:solidFill>
            <a:srgbClr val="262C42"/>
          </a:solidFill>
          <a:ln w="9525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8288" rIns="73152" bIns="18288" rtlCol="0" anchor="ctr"/>
          <a:lstStyle/>
          <a:p>
            <a:pPr algn="ctr"/>
            <a:r>
              <a:rPr sz="1300" b="1">
                <a:solidFill>
                  <a:srgbClr val="EBEEF5"/>
                </a:solidFill>
                <a:latin typeface="微软雅黑"/>
                <a:ea typeface="微软雅黑"/>
              </a:rPr>
              <a:t>目标</a:t>
            </a:r>
            <a:endParaRPr sz="1300" b="1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788920" y="1234440"/>
            <a:ext cx="6263640" cy="411480"/>
          </a:xfrm>
          <a:prstGeom prst="rect">
            <a:avLst/>
          </a:prstGeom>
          <a:solidFill>
            <a:srgbClr val="262C42"/>
          </a:solidFill>
          <a:ln w="9525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8288" rIns="73152" bIns="18288" rtlCol="0" anchor="ctr"/>
          <a:lstStyle/>
          <a:p>
            <a:pPr algn="ctr"/>
            <a:r>
              <a:rPr sz="1300" b="1">
                <a:solidFill>
                  <a:srgbClr val="EBEEF5"/>
                </a:solidFill>
                <a:latin typeface="微软雅黑"/>
                <a:ea typeface="微软雅黑"/>
              </a:rPr>
              <a:t>内容</a:t>
            </a:r>
            <a:endParaRPr sz="1300" b="1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052560" y="1234440"/>
            <a:ext cx="2651760" cy="411480"/>
          </a:xfrm>
          <a:prstGeom prst="rect">
            <a:avLst/>
          </a:prstGeom>
          <a:solidFill>
            <a:srgbClr val="262C42"/>
          </a:solidFill>
          <a:ln w="9525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8288" rIns="73152" bIns="18288" rtlCol="0" anchor="ctr"/>
          <a:lstStyle/>
          <a:p>
            <a:pPr algn="ctr"/>
            <a:r>
              <a:rPr sz="1300" b="1">
                <a:solidFill>
                  <a:srgbClr val="EBEEF5"/>
                </a:solidFill>
                <a:latin typeface="微软雅黑"/>
                <a:ea typeface="微软雅黑"/>
              </a:rPr>
              <a:t>状态</a:t>
            </a:r>
            <a:endParaRPr sz="1300" b="1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02920" y="1645920"/>
            <a:ext cx="2286000" cy="868680"/>
          </a:xfrm>
          <a:prstGeom prst="rect">
            <a:avLst/>
          </a:prstGeom>
          <a:solidFill>
            <a:srgbClr val="1C2132"/>
          </a:solidFill>
          <a:ln w="9525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37160" bIns="18288" rtlCol="0" anchor="ctr"/>
          <a:lstStyle/>
          <a:p>
            <a:pPr algn="l"/>
            <a:r>
              <a:rPr sz="1600" b="1">
                <a:solidFill>
                  <a:srgbClr val="EBEEF5"/>
                </a:solidFill>
                <a:latin typeface="微软雅黑"/>
              </a:rPr>
              <a:t>必做 · 开题承诺</a:t>
            </a:r>
            <a:endParaRPr sz="1300" b="1">
              <a:solidFill>
                <a:srgbClr val="EBEEF5"/>
              </a:solidFill>
              <a:latin typeface="微软雅黑"/>
              <a:ea typeface="微软雅黑"/>
            </a:endParaRPr>
          </a:p>
          <a:p>
            <a:pPr algn="l"/>
            <a:r>
              <a:rPr sz="1050" b="0">
                <a:solidFill>
                  <a:srgbClr val="98A2B8"/>
                </a:solidFill>
                <a:latin typeface="微软雅黑"/>
              </a:rPr>
              <a:t>4 / 4</a:t>
            </a:r>
            <a:endParaRPr sz="1100" b="0">
              <a:solidFill>
                <a:srgbClr val="98A2B8"/>
              </a:solidFill>
              <a:latin typeface="微软雅黑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2788920" y="1645920"/>
            <a:ext cx="6263640" cy="868680"/>
          </a:xfrm>
          <a:prstGeom prst="rect">
            <a:avLst/>
          </a:prstGeom>
          <a:solidFill>
            <a:srgbClr val="1C2132"/>
          </a:solidFill>
          <a:ln w="9525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8288" rIns="137160" bIns="18288" rtlCol="0" anchor="ctr"/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EBEEF5"/>
                </a:solidFill>
                <a:latin typeface="微软雅黑"/>
              </a:rPr>
              <a:t>▪ 推箱子移动 + 箱子链推动</a:t>
            </a:r>
            <a:endParaRPr sz="1150" b="0">
              <a:solidFill>
                <a:srgbClr val="EBEEF5"/>
              </a:solidFill>
              <a:latin typeface="微软雅黑"/>
              <a:ea typeface="微软雅黑"/>
            </a:endParaRP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EBEEF5"/>
                </a:solidFill>
                <a:latin typeface="微软雅黑"/>
              </a:rPr>
              <a:t>▪ 嵌套世界进出（口由内层边缘决定）</a:t>
            </a:r>
            <a:endParaRPr sz="1150" b="0">
              <a:solidFill>
                <a:srgbClr val="EBEEF5"/>
              </a:solidFill>
              <a:latin typeface="微软雅黑"/>
            </a:endParaRP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EBEEF5"/>
                </a:solidFill>
                <a:latin typeface="微软雅黑"/>
              </a:rPr>
              <a:t>▪ 胜利判定：所有 g 被箱子盖住 + 玩家站上 G</a:t>
            </a:r>
            <a:endParaRPr sz="1150" b="0">
              <a:solidFill>
                <a:srgbClr val="EBEEF5"/>
              </a:solidFill>
              <a:latin typeface="微软雅黑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9052560" y="1645920"/>
            <a:ext cx="2651760" cy="868680"/>
          </a:xfrm>
          <a:prstGeom prst="rect">
            <a:avLst/>
          </a:prstGeom>
          <a:solidFill>
            <a:srgbClr val="1C2132"/>
          </a:solidFill>
          <a:ln w="9525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8288" rIns="73152" bIns="18288" rtlCol="0" anchor="ctr"/>
          <a:lstStyle/>
          <a:p>
            <a:pPr algn="ctr"/>
            <a:r>
              <a:rPr sz="1400" b="1">
                <a:solidFill>
                  <a:srgbClr val="6CC77A"/>
                </a:solidFill>
                <a:latin typeface="微软雅黑"/>
              </a:rPr>
              <a:t>✅ 达成</a:t>
            </a:r>
            <a:endParaRPr sz="1250" b="1">
              <a:solidFill>
                <a:srgbClr val="6CC77A"/>
              </a:solidFill>
              <a:latin typeface="微软雅黑"/>
              <a:ea typeface="微软雅黑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02920" y="4434840"/>
            <a:ext cx="11201400" cy="685800"/>
          </a:xfrm>
          <a:prstGeom prst="roundRect">
            <a:avLst/>
          </a:prstGeom>
          <a:solidFill>
            <a:srgbClr val="262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8288" rIns="256032" bIns="18288" rtlCol="0" anchor="ctr"/>
          <a:lstStyle/>
          <a:p>
            <a:pPr algn="l"/>
            <a:r>
              <a:rPr sz="1400" b="1">
                <a:solidFill>
                  <a:srgbClr val="F5A623"/>
                </a:solidFill>
                <a:latin typeface="微软雅黑"/>
                <a:ea typeface="微软雅黑"/>
              </a:rPr>
              <a:t>结论　</a:t>
            </a:r>
            <a:r>
              <a:rPr sz="1300" b="0">
                <a:solidFill>
                  <a:srgbClr val="EBEEF5"/>
                </a:solidFill>
                <a:latin typeface="微软雅黑"/>
                <a:ea typeface="微软雅黑"/>
              </a:rPr>
              <a:t>开题承诺的必做项全部达成；选做完成 1 项；其余与动画、更多关卡一起列为后续方向</a:t>
            </a:r>
            <a:endParaRPr sz="130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02920" y="5413248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BEEF5"/>
                </a:solidFill>
                <a:latin typeface="微软雅黑"/>
                <a:ea typeface="微软雅黑"/>
              </a:rPr>
              <a:t>项目数据</a:t>
            </a:r>
            <a:endParaRPr sz="1300" b="1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1600200" y="5349240"/>
            <a:ext cx="2286000" cy="457200"/>
          </a:xfrm>
          <a:prstGeom prst="roundRect">
            <a:avLst/>
          </a:prstGeom>
          <a:solidFill>
            <a:srgbClr val="1C2132"/>
          </a:solidFill>
          <a:ln w="12700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8288" rIns="73152" bIns="18288" rtlCol="0" anchor="ctr"/>
          <a:lstStyle/>
          <a:p>
            <a:pPr algn="ctr"/>
            <a:r>
              <a:rPr sz="1150" b="0">
                <a:solidFill>
                  <a:srgbClr val="EBEEF5"/>
                </a:solidFill>
                <a:latin typeface="微软雅黑"/>
                <a:ea typeface="微软雅黑"/>
              </a:rPr>
              <a:t>7 个模块</a:t>
            </a:r>
            <a:endParaRPr sz="115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4069080" y="5349240"/>
            <a:ext cx="2286000" cy="457200"/>
          </a:xfrm>
          <a:prstGeom prst="roundRect">
            <a:avLst/>
          </a:prstGeom>
          <a:solidFill>
            <a:srgbClr val="1C2132"/>
          </a:solidFill>
          <a:ln w="12700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8288" rIns="73152" bIns="18288" rtlCol="0" anchor="ctr"/>
          <a:lstStyle/>
          <a:p>
            <a:pPr algn="ctr"/>
            <a:r>
              <a:rPr sz="1150" b="0">
                <a:solidFill>
                  <a:srgbClr val="EBEEF5"/>
                </a:solidFill>
                <a:latin typeface="微软雅黑"/>
                <a:ea typeface="微软雅黑"/>
              </a:rPr>
              <a:t>1326 行源码</a:t>
            </a:r>
            <a:endParaRPr sz="115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6537960" y="5349240"/>
            <a:ext cx="2286000" cy="457200"/>
          </a:xfrm>
          <a:prstGeom prst="roundRect">
            <a:avLst/>
          </a:prstGeom>
          <a:solidFill>
            <a:srgbClr val="1C2132"/>
          </a:solidFill>
          <a:ln w="12700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8288" rIns="73152" bIns="18288" rtlCol="0" anchor="ctr"/>
          <a:lstStyle/>
          <a:p>
            <a:pPr algn="ctr"/>
            <a:r>
              <a:rPr sz="1150" b="0">
                <a:solidFill>
                  <a:srgbClr val="EBEEF5"/>
                </a:solidFill>
                <a:latin typeface="微软雅黑"/>
                <a:ea typeface="微软雅黑"/>
              </a:rPr>
              <a:t>108 个测试</a:t>
            </a:r>
            <a:endParaRPr sz="115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9006840" y="5349240"/>
            <a:ext cx="2286000" cy="457200"/>
          </a:xfrm>
          <a:prstGeom prst="roundRect">
            <a:avLst/>
          </a:prstGeom>
          <a:solidFill>
            <a:srgbClr val="1C2132"/>
          </a:solidFill>
          <a:ln w="12700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8288" rIns="73152" bIns="18288" rtlCol="0" anchor="ctr"/>
          <a:lstStyle/>
          <a:p>
            <a:pPr algn="ctr"/>
            <a:r>
              <a:rPr sz="1150" b="0">
                <a:solidFill>
                  <a:srgbClr val="EBEEF5"/>
                </a:solidFill>
                <a:latin typeface="微软雅黑"/>
                <a:ea typeface="微软雅黑"/>
              </a:rPr>
              <a:t>2 个关卡</a:t>
            </a:r>
            <a:endParaRPr sz="115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02920" y="2578608"/>
            <a:ext cx="2286000" cy="868680"/>
          </a:xfrm>
          <a:prstGeom prst="rect">
            <a:avLst/>
          </a:prstGeom>
          <a:solidFill>
            <a:srgbClr val="1C2132"/>
          </a:solidFill>
          <a:ln w="9525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37160" bIns="18288" rtlCol="0" anchor="ctr"/>
          <a:lstStyle/>
          <a:p>
            <a:pPr algn="l"/>
            <a:r>
              <a:rPr sz="1600" b="1">
                <a:solidFill>
                  <a:srgbClr val="EBEEF5"/>
                </a:solidFill>
                <a:latin typeface="微软雅黑"/>
              </a:rPr>
              <a:t>选做</a:t>
            </a:r>
            <a:endParaRPr sz="1300" b="1">
              <a:solidFill>
                <a:srgbClr val="EBEEF5"/>
              </a:solidFill>
              <a:latin typeface="微软雅黑"/>
              <a:ea typeface="微软雅黑"/>
            </a:endParaRPr>
          </a:p>
          <a:p>
            <a:pPr algn="l"/>
            <a:r>
              <a:rPr sz="1050" b="0">
                <a:solidFill>
                  <a:srgbClr val="98A2B8"/>
                </a:solidFill>
                <a:latin typeface="微软雅黑"/>
              </a:rPr>
              <a:t>1 / 3</a:t>
            </a:r>
            <a:endParaRPr sz="1100" b="0">
              <a:solidFill>
                <a:srgbClr val="98A2B8"/>
              </a:solidFill>
              <a:latin typeface="微软雅黑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2788920" y="2578608"/>
            <a:ext cx="6263640" cy="868680"/>
          </a:xfrm>
          <a:prstGeom prst="rect">
            <a:avLst/>
          </a:prstGeom>
          <a:solidFill>
            <a:srgbClr val="1C2132"/>
          </a:solidFill>
          <a:ln w="9525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8288" rIns="137160" bIns="18288" rtlCol="0" anchor="ctr"/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EBEEF5"/>
                </a:solidFill>
                <a:latin typeface="微软雅黑"/>
              </a:rPr>
              <a:t>▪ 撤销 / 重置 —— ✅ 提前完成（纯函数 + 快照）</a:t>
            </a:r>
            <a:endParaRPr sz="1150" b="0">
              <a:solidFill>
                <a:srgbClr val="EBEEF5"/>
              </a:solidFill>
              <a:latin typeface="微软雅黑"/>
              <a:ea typeface="微软雅黑"/>
            </a:endParaRP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EBEEF5"/>
                </a:solidFill>
                <a:latin typeface="微软雅黑"/>
              </a:rPr>
              <a:t>▪ 通关计时 —— 未做</a:t>
            </a:r>
            <a:endParaRPr sz="1150" b="0">
              <a:solidFill>
                <a:srgbClr val="EBEEF5"/>
              </a:solidFill>
              <a:latin typeface="微软雅黑"/>
            </a:endParaRP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EBEEF5"/>
                </a:solidFill>
                <a:latin typeface="微软雅黑"/>
              </a:rPr>
              <a:t>▪ 简单音效 —— 未做</a:t>
            </a:r>
            <a:endParaRPr sz="1150" b="0">
              <a:solidFill>
                <a:srgbClr val="EBEEF5"/>
              </a:solidFill>
              <a:latin typeface="微软雅黑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9052560" y="2578608"/>
            <a:ext cx="2651760" cy="868680"/>
          </a:xfrm>
          <a:prstGeom prst="rect">
            <a:avLst/>
          </a:prstGeom>
          <a:solidFill>
            <a:srgbClr val="1C2132"/>
          </a:solidFill>
          <a:ln w="9525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8288" rIns="73152" bIns="18288" rtlCol="0" anchor="ctr"/>
          <a:lstStyle/>
          <a:p>
            <a:pPr algn="ctr"/>
            <a:r>
              <a:rPr sz="1400" b="1">
                <a:solidFill>
                  <a:srgbClr val="6CC77A"/>
                </a:solidFill>
                <a:latin typeface="微软雅黑"/>
              </a:rPr>
              <a:t>✅ 1 / 3</a:t>
            </a:r>
            <a:endParaRPr sz="1250" b="1">
              <a:solidFill>
                <a:srgbClr val="6CC77A"/>
              </a:solidFill>
              <a:latin typeface="微软雅黑"/>
              <a:ea typeface="微软雅黑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02920" y="3511296"/>
            <a:ext cx="2286000" cy="868680"/>
          </a:xfrm>
          <a:prstGeom prst="rect">
            <a:avLst/>
          </a:prstGeom>
          <a:solidFill>
            <a:srgbClr val="1C2132"/>
          </a:solidFill>
          <a:ln w="9525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37160" bIns="18288" rtlCol="0" anchor="ctr"/>
          <a:lstStyle/>
          <a:p>
            <a:pPr algn="l"/>
            <a:r>
              <a:rPr sz="1600" b="1">
                <a:solidFill>
                  <a:srgbClr val="EBEEF5"/>
                </a:solidFill>
                <a:latin typeface="微软雅黑"/>
              </a:rPr>
              <a:t>超出开题预期</a:t>
            </a:r>
            <a:endParaRPr sz="1300" b="1">
              <a:solidFill>
                <a:srgbClr val="EBEEF5"/>
              </a:solidFill>
              <a:latin typeface="微软雅黑"/>
              <a:ea typeface="微软雅黑"/>
            </a:endParaRPr>
          </a:p>
          <a:p>
            <a:pPr algn="l"/>
            <a:r>
              <a:rPr sz="1050" b="0">
                <a:solidFill>
                  <a:srgbClr val="98A2B8"/>
                </a:solidFill>
                <a:latin typeface="微软雅黑"/>
              </a:rPr>
              <a:t>6 项</a:t>
            </a:r>
            <a:endParaRPr sz="1100" b="0">
              <a:solidFill>
                <a:srgbClr val="98A2B8"/>
              </a:solidFill>
              <a:latin typeface="微软雅黑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2788920" y="3511296"/>
            <a:ext cx="6263640" cy="868680"/>
          </a:xfrm>
          <a:prstGeom prst="rect">
            <a:avLst/>
          </a:prstGeom>
          <a:solidFill>
            <a:srgbClr val="1C2132"/>
          </a:solidFill>
          <a:ln w="9525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8288" rIns="137160" bIns="18288" rtlCol="0" anchor="ctr"/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EBEEF5"/>
                </a:solidFill>
                <a:latin typeface="微软雅黑"/>
              </a:rPr>
              <a:t>▪ 嵌套不限层数 + 自引用校验 / 双向穿口与吞食</a:t>
            </a:r>
            <a:endParaRPr sz="1150" b="0">
              <a:solidFill>
                <a:srgbClr val="EBEEF5"/>
              </a:solidFill>
              <a:latin typeface="微软雅黑"/>
              <a:ea typeface="微软雅黑"/>
            </a:endParaRP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EBEEF5"/>
                </a:solidFill>
                <a:latin typeface="微软雅黑"/>
              </a:rPr>
              <a:t>▪ 双条件判定点（箱子 g + 玩家 G）</a:t>
            </a:r>
            <a:endParaRPr sz="1150" b="0">
              <a:solidFill>
                <a:srgbClr val="EBEEF5"/>
              </a:solidFill>
              <a:latin typeface="微软雅黑"/>
            </a:endParaRP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EBEEF5"/>
                </a:solidFill>
                <a:latin typeface="微软雅黑"/>
              </a:rPr>
              <a:t>▪ BFS 解算器 + 108 个自动化测试 + 文档一致性校验</a:t>
            </a:r>
            <a:endParaRPr sz="1150" b="0">
              <a:solidFill>
                <a:srgbClr val="EBEEF5"/>
              </a:solidFill>
              <a:latin typeface="微软雅黑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9052560" y="3511296"/>
            <a:ext cx="2651760" cy="868680"/>
          </a:xfrm>
          <a:prstGeom prst="rect">
            <a:avLst/>
          </a:prstGeom>
          <a:solidFill>
            <a:srgbClr val="1C2132"/>
          </a:solidFill>
          <a:ln w="9525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8288" rIns="73152" bIns="18288" rtlCol="0" anchor="ctr"/>
          <a:lstStyle/>
          <a:p>
            <a:pPr algn="ctr"/>
            <a:r>
              <a:rPr sz="1400" b="1">
                <a:solidFill>
                  <a:srgbClr val="6CC77A"/>
                </a:solidFill>
                <a:latin typeface="微软雅黑"/>
              </a:rPr>
              <a:t>⭐ 加分</a:t>
            </a:r>
            <a:endParaRPr sz="1250" b="1">
              <a:solidFill>
                <a:srgbClr val="6CC77A"/>
              </a:solidFill>
              <a:latin typeface="微软雅黑"/>
              <a:ea typeface="微软雅黑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BEEF5"/>
                </a:solidFill>
                <a:latin typeface="微软雅黑"/>
                <a:ea typeface="微软雅黑"/>
              </a:rPr>
              <a:t>人员分工 · 演示与总结</a:t>
            </a:r>
            <a:endParaRPr sz="2600" b="1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21207" y="950976"/>
            <a:ext cx="822960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98A2B8"/>
                </a:solidFill>
                <a:latin typeface="微软雅黑"/>
                <a:ea typeface="微软雅黑"/>
              </a:rPr>
              <a:t>董长坤 · 《递归之箱》结课汇报</a:t>
            </a:r>
            <a:endParaRPr sz="900" b="0">
              <a:solidFill>
                <a:srgbClr val="98A2B8"/>
              </a:solidFill>
              <a:latin typeface="微软雅黑"/>
              <a:ea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247120" y="6473952"/>
            <a:ext cx="822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98A2B8"/>
                </a:solidFill>
                <a:latin typeface="微软雅黑"/>
                <a:ea typeface="微软雅黑"/>
              </a:rPr>
              <a:t>13 / 13</a:t>
            </a:r>
            <a:endParaRPr sz="900" b="0">
              <a:solidFill>
                <a:srgbClr val="98A2B8"/>
              </a:solidFill>
              <a:latin typeface="微软雅黑"/>
              <a:ea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5577840" cy="2590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350" b="1">
                <a:solidFill>
                  <a:srgbClr val="F5A623"/>
                </a:solidFill>
                <a:latin typeface="微软雅黑"/>
                <a:ea typeface="微软雅黑"/>
              </a:rPr>
              <a:t>单人项目：完成人 董长坤</a:t>
            </a:r>
            <a:endParaRPr sz="1600" b="1">
              <a:solidFill>
                <a:srgbClr val="F5A623"/>
              </a:solidFill>
              <a:latin typeface="微软雅黑"/>
              <a:ea typeface="微软雅黑"/>
            </a:endParaRPr>
          </a:p>
          <a:p>
            <a:pPr algn="l">
              <a:spcAft>
                <a:spcPts val="1000"/>
              </a:spcAft>
            </a:pPr>
            <a:r>
              <a:rPr sz="1250" b="0">
                <a:solidFill>
                  <a:srgbClr val="EBEEF5"/>
                </a:solidFill>
                <a:latin typeface="微软雅黑"/>
                <a:ea typeface="微软雅黑"/>
              </a:rPr>
              <a:t>▪  需求、机制、编码、测试、文档、演示全部独立完成</a:t>
            </a:r>
            <a:endParaRPr sz="1300" b="0">
              <a:solidFill>
                <a:srgbClr val="EBEEF5"/>
              </a:solidFill>
              <a:latin typeface="微软雅黑"/>
              <a:ea typeface="微软雅黑"/>
            </a:endParaRPr>
          </a:p>
          <a:p>
            <a:pPr algn="l">
              <a:spcAft>
                <a:spcPts val="1000"/>
              </a:spcAft>
            </a:pPr>
            <a:r>
              <a:rPr sz="1250" b="0">
                <a:solidFill>
                  <a:srgbClr val="EBEEF5"/>
                </a:solidFill>
                <a:latin typeface="微软雅黑"/>
                <a:ea typeface="微软雅黑"/>
              </a:rPr>
              <a:t>▪  两周交付 2 个关卡 + 7 个模块 + 108 个测试 + 4 份机制文档</a:t>
            </a:r>
            <a:endParaRPr sz="1300" b="0">
              <a:solidFill>
                <a:srgbClr val="EBEEF5"/>
              </a:solidFill>
              <a:latin typeface="微软雅黑"/>
              <a:ea typeface="微软雅黑"/>
            </a:endParaRPr>
          </a:p>
          <a:p>
            <a:pPr algn="l">
              <a:spcAft>
                <a:spcPts val="1000"/>
              </a:spcAft>
            </a:pPr>
            <a:r>
              <a:rPr sz="1250" b="0">
                <a:solidFill>
                  <a:srgbClr val="EBEEF5"/>
                </a:solidFill>
                <a:latin typeface="微软雅黑"/>
                <a:ea typeface="微软雅黑"/>
              </a:rPr>
              <a:t>▪  精力分配：机制与文档约 40%，实现约 35%，测试与验证约 25%</a:t>
            </a:r>
            <a:endParaRPr sz="1300" b="0">
              <a:solidFill>
                <a:srgbClr val="EBEEF5"/>
              </a:solidFill>
              <a:latin typeface="微软雅黑"/>
              <a:ea typeface="微软雅黑"/>
            </a:endParaRPr>
          </a:p>
          <a:p>
            <a:pPr algn="l">
              <a:spcAft>
                <a:spcPts val="1000"/>
              </a:spcAft>
            </a:pPr>
            <a:r>
              <a:rPr sz="1350" b="1">
                <a:solidFill>
                  <a:srgbClr val="F5A623"/>
                </a:solidFill>
                <a:latin typeface="微软雅黑"/>
                <a:ea typeface="微软雅黑"/>
              </a:rPr>
              <a:t>与 AI 的分工</a:t>
            </a:r>
            <a:endParaRPr sz="1600" b="1">
              <a:solidFill>
                <a:srgbClr val="F5A623"/>
              </a:solidFill>
              <a:latin typeface="微软雅黑"/>
              <a:ea typeface="微软雅黑"/>
            </a:endParaRPr>
          </a:p>
          <a:p>
            <a:pPr algn="l">
              <a:spcAft>
                <a:spcPts val="1000"/>
              </a:spcAft>
            </a:pPr>
            <a:r>
              <a:rPr sz="1250" b="0">
                <a:solidFill>
                  <a:srgbClr val="EBEEF5"/>
                </a:solidFill>
                <a:latin typeface="微软雅黑"/>
                <a:ea typeface="微软雅黑"/>
              </a:rPr>
              <a:t>▪  AI：代码生成、文档校对、解算器原型、关卡数据转换</a:t>
            </a:r>
            <a:endParaRPr sz="1300" b="0">
              <a:solidFill>
                <a:srgbClr val="EBEEF5"/>
              </a:solidFill>
              <a:latin typeface="微软雅黑"/>
              <a:ea typeface="微软雅黑"/>
            </a:endParaRPr>
          </a:p>
          <a:p>
            <a:pPr algn="l">
              <a:spcAft>
                <a:spcPts val="1000"/>
              </a:spcAft>
            </a:pPr>
            <a:r>
              <a:rPr sz="1250" b="0">
                <a:solidFill>
                  <a:srgbClr val="EBEEF5"/>
                </a:solidFill>
                <a:latin typeface="微软雅黑"/>
                <a:ea typeface="微软雅黑"/>
              </a:rPr>
              <a:t>▪  我：定机制、定优先级、验收观感与手感、决定取舍</a:t>
            </a:r>
            <a:endParaRPr sz="1300" b="0">
              <a:solidFill>
                <a:srgbClr val="EBEEF5"/>
              </a:solidFill>
              <a:latin typeface="微软雅黑"/>
              <a:ea typeface="微软雅黑"/>
            </a:endParaRPr>
          </a:p>
          <a:p>
            <a:pPr algn="l">
              <a:spcAft>
                <a:spcPts val="1000"/>
              </a:spcAft>
            </a:pPr>
            <a:r>
              <a:rPr sz="1350" b="1">
                <a:solidFill>
                  <a:srgbClr val="F5A623"/>
                </a:solidFill>
                <a:latin typeface="微软雅黑"/>
                <a:ea typeface="微软雅黑"/>
              </a:rPr>
              <a:t>现场演示（约 2 分钟）</a:t>
            </a:r>
            <a:endParaRPr sz="1300" b="0">
              <a:solidFill>
                <a:srgbClr val="EBEEF5"/>
              </a:solidFill>
              <a:latin typeface="微软雅黑"/>
              <a:ea typeface="微软雅黑"/>
            </a:endParaRPr>
          </a:p>
          <a:p>
            <a:pPr algn="l">
              <a:spcAft>
                <a:spcPts val="1000"/>
              </a:spcAft>
            </a:pPr>
            <a:r>
              <a:rPr sz="1250" b="0">
                <a:solidFill>
                  <a:srgbClr val="EBEEF5"/>
                </a:solidFill>
                <a:latin typeface="微软雅黑"/>
                <a:ea typeface="微软雅黑"/>
              </a:rPr>
              <a:t>▪  python main.py → 选关 →「测试」5 步 →「吞食01」37 步</a:t>
            </a:r>
            <a:endParaRPr sz="130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446520" y="1234440"/>
            <a:ext cx="5257800" cy="3337560"/>
          </a:xfrm>
          <a:prstGeom prst="rect">
            <a:avLst/>
          </a:prstGeom>
          <a:solidFill>
            <a:srgbClr val="1C2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389888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BEEF5"/>
                </a:solidFill>
                <a:latin typeface="微软雅黑"/>
                <a:ea typeface="微软雅黑"/>
              </a:rPr>
              <a:t>已知限制与后续</a:t>
            </a:r>
            <a:endParaRPr sz="1500" b="1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675120" y="1874519"/>
            <a:ext cx="48463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5A623"/>
                </a:solidFill>
                <a:latin typeface="微软雅黑"/>
                <a:ea typeface="微软雅黑"/>
              </a:rPr>
              <a:t>暂未实现　</a:t>
            </a:r>
            <a:r>
              <a:rPr lang="zh-CN" sz="1300" b="1">
                <a:solidFill>
                  <a:srgbClr val="F5A623"/>
                </a:solidFill>
                <a:latin typeface="微软雅黑"/>
                <a:ea typeface="微软雅黑"/>
              </a:rPr>
              <a:t>音效、通关计时、死局提示</a:t>
            </a:r>
            <a:endParaRPr sz="130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675120" y="2468880"/>
            <a:ext cx="484632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69CD6"/>
                </a:solidFill>
                <a:latin typeface="微软雅黑"/>
                <a:ea typeface="微软雅黑"/>
              </a:rPr>
              <a:t>后续方向　</a:t>
            </a:r>
            <a:r>
              <a:rPr sz="1300" b="0">
                <a:solidFill>
                  <a:srgbClr val="EBEEF5"/>
                </a:solidFill>
                <a:latin typeface="微软雅黑"/>
                <a:ea typeface="微软雅黑"/>
              </a:rPr>
              <a:t>解算器工具化、动画补间、更多关卡</a:t>
            </a:r>
            <a:endParaRPr sz="130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675120" y="3246120"/>
            <a:ext cx="47548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98A2B8"/>
                </a:solidFill>
                <a:latin typeface="微软雅黑"/>
                <a:ea typeface="微软雅黑"/>
              </a:rPr>
              <a:t>关键词</a:t>
            </a:r>
            <a:endParaRPr sz="1200" b="1">
              <a:solidFill>
                <a:srgbClr val="98A2B8"/>
              </a:solidFill>
              <a:latin typeface="微软雅黑"/>
              <a:ea typeface="微软雅黑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675120" y="3611880"/>
            <a:ext cx="1133856" cy="457200"/>
          </a:xfrm>
          <a:prstGeom prst="roundRect">
            <a:avLst/>
          </a:prstGeom>
          <a:solidFill>
            <a:srgbClr val="262C42"/>
          </a:solidFill>
          <a:ln w="12700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8288" rIns="73152" bIns="18288" rtlCol="0" anchor="ctr"/>
          <a:lstStyle/>
          <a:p>
            <a:pPr algn="ctr"/>
            <a:r>
              <a:rPr sz="1100" b="0">
                <a:solidFill>
                  <a:srgbClr val="EBEEF5"/>
                </a:solidFill>
                <a:latin typeface="微软雅黑"/>
                <a:ea typeface="微软雅黑"/>
              </a:rPr>
              <a:t>现场演示</a:t>
            </a:r>
            <a:endParaRPr sz="110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7918704" y="3611880"/>
            <a:ext cx="1133856" cy="457200"/>
          </a:xfrm>
          <a:prstGeom prst="roundRect">
            <a:avLst/>
          </a:prstGeom>
          <a:solidFill>
            <a:srgbClr val="262C42"/>
          </a:solidFill>
          <a:ln w="12700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8288" rIns="73152" bIns="18288" rtlCol="0" anchor="ctr"/>
          <a:lstStyle/>
          <a:p>
            <a:pPr algn="ctr"/>
            <a:r>
              <a:rPr sz="1100" b="0">
                <a:solidFill>
                  <a:srgbClr val="EBEEF5"/>
                </a:solidFill>
                <a:latin typeface="微软雅黑"/>
                <a:ea typeface="微软雅黑"/>
              </a:rPr>
              <a:t>录屏备份</a:t>
            </a:r>
            <a:endParaRPr sz="110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9162288" y="3611880"/>
            <a:ext cx="1133856" cy="457200"/>
          </a:xfrm>
          <a:prstGeom prst="roundRect">
            <a:avLst/>
          </a:prstGeom>
          <a:solidFill>
            <a:srgbClr val="262C42"/>
          </a:solidFill>
          <a:ln w="12700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8288" rIns="73152" bIns="18288" rtlCol="0" anchor="ctr"/>
          <a:lstStyle/>
          <a:p>
            <a:pPr algn="ctr"/>
            <a:r>
              <a:rPr sz="1100" b="0">
                <a:solidFill>
                  <a:srgbClr val="EBEEF5"/>
                </a:solidFill>
                <a:latin typeface="微软雅黑"/>
                <a:ea typeface="微软雅黑"/>
              </a:rPr>
              <a:t>AI 辅助</a:t>
            </a:r>
            <a:endParaRPr sz="110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10405872" y="3611880"/>
            <a:ext cx="1133856" cy="457200"/>
          </a:xfrm>
          <a:prstGeom prst="roundRect">
            <a:avLst/>
          </a:prstGeom>
          <a:solidFill>
            <a:srgbClr val="262C42"/>
          </a:solidFill>
          <a:ln w="12700">
            <a:solidFill>
              <a:srgbClr val="3E4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18288" rIns="73152" bIns="18288" rtlCol="0" anchor="ctr"/>
          <a:lstStyle/>
          <a:p>
            <a:pPr algn="ctr"/>
            <a:r>
              <a:rPr lang="zh-CN" sz="1100" b="0">
                <a:solidFill>
                  <a:srgbClr val="EBEEF5"/>
                </a:solidFill>
                <a:latin typeface="微软雅黑"/>
                <a:ea typeface="微软雅黑"/>
              </a:rPr>
              <a:t>可追溯</a:t>
            </a:r>
            <a:endParaRPr sz="1100" b="0">
              <a:solidFill>
                <a:srgbClr val="EBEEF5"/>
              </a:solidFill>
              <a:latin typeface="微软雅黑"/>
              <a:ea typeface="微软雅黑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1017</Words>
  <Application>WPS 文字</Application>
  <PresentationFormat>On-screen Show (4:3)</PresentationFormat>
  <Paragraphs>178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21" baseType="lpstr">
      <vt:lpstr>Arial</vt:lpstr>
      <vt:lpstr>宋体</vt:lpstr>
      <vt:lpstr>Wingdings</vt:lpstr>
      <vt:lpstr>Arial</vt:lpstr>
      <vt:lpstr>微软雅黑</vt:lpstr>
      <vt:lpstr>汉仪旗黑</vt:lpstr>
      <vt:lpstr>Calibri</vt:lpstr>
      <vt:lpstr>Helvetica Neue</vt:lpstr>
      <vt:lpstr>微软雅黑</vt:lpstr>
      <vt:lpstr>宋体</vt:lpstr>
      <vt:lpstr>Arial Unicode MS</vt:lpstr>
      <vt:lpstr>汉仪书宋二KW</vt:lpstr>
      <vt:lpstr>微软雅黑</vt:lpstr>
      <vt:lpstr>宋体-简</vt:lpstr>
      <vt:lpstr>Apple Color Emoji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董长坤</cp:lastModifiedBy>
  <cp:revision>5</cp:revision>
  <dcterms:created xsi:type="dcterms:W3CDTF">2026-09-09T09:30:56Z</dcterms:created>
  <dcterms:modified xsi:type="dcterms:W3CDTF">2026-09-09T09:30:56Z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ECDB9A1BAA95B1C1271BA16AB09BFE72_42</vt:lpwstr>
  </property>
  <property fmtid="{D5CDD505-2E9C-101B-9397-08002B2CF9AE}" pid="3" name="KSOProductBuildVer">
    <vt:lpwstr>2052-12.1.23540.23540</vt:lpwstr>
  </property>
</Properties>
</file>